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icubik" charset="1" panose="02000503020000020004"/>
      <p:regular r:id="rId16"/>
    </p:embeddedFont>
    <p:embeddedFont>
      <p:font typeface="Telegraf" charset="1" panose="00000500000000000000"/>
      <p:regular r:id="rId17"/>
    </p:embeddedFont>
    <p:embeddedFont>
      <p:font typeface="Telegraf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765756" y="5880056"/>
            <a:ext cx="6756488" cy="67564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960917" y="747056"/>
            <a:ext cx="179921" cy="146094"/>
          </a:xfrm>
          <a:custGeom>
            <a:avLst/>
            <a:gdLst/>
            <a:ahLst/>
            <a:cxnLst/>
            <a:rect r="r" b="b" t="t" l="l"/>
            <a:pathLst>
              <a:path h="146094" w="179921">
                <a:moveTo>
                  <a:pt x="0" y="0"/>
                </a:moveTo>
                <a:lnTo>
                  <a:pt x="179920" y="0"/>
                </a:lnTo>
                <a:lnTo>
                  <a:pt x="179920" y="146093"/>
                </a:lnTo>
                <a:lnTo>
                  <a:pt x="0" y="146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028700" y="4785413"/>
            <a:ext cx="16230600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28700" y="2612404"/>
            <a:ext cx="16230600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5400000">
            <a:off x="8987323" y="8976480"/>
            <a:ext cx="295174" cy="362326"/>
          </a:xfrm>
          <a:custGeom>
            <a:avLst/>
            <a:gdLst/>
            <a:ahLst/>
            <a:cxnLst/>
            <a:rect r="r" b="b" t="t" l="l"/>
            <a:pathLst>
              <a:path h="362326" w="295174">
                <a:moveTo>
                  <a:pt x="0" y="0"/>
                </a:moveTo>
                <a:lnTo>
                  <a:pt x="295174" y="0"/>
                </a:lnTo>
                <a:lnTo>
                  <a:pt x="295174" y="362327"/>
                </a:lnTo>
                <a:lnTo>
                  <a:pt x="0" y="362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5400000">
            <a:off x="2228774" y="5487066"/>
            <a:ext cx="3037609" cy="303760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78777" y="5637068"/>
            <a:ext cx="2737605" cy="273760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3473754" y="6115499"/>
            <a:ext cx="2580942" cy="258094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19227" y="6260972"/>
            <a:ext cx="2289996" cy="228999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8944451"/>
            <a:ext cx="300494" cy="313849"/>
            <a:chOff x="0" y="0"/>
            <a:chExt cx="571500" cy="59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16967572" y="8951128"/>
            <a:ext cx="300494" cy="313849"/>
            <a:chOff x="0" y="0"/>
            <a:chExt cx="571500" cy="596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342010" y="731708"/>
            <a:ext cx="195724" cy="190751"/>
          </a:xfrm>
          <a:custGeom>
            <a:avLst/>
            <a:gdLst/>
            <a:ahLst/>
            <a:cxnLst/>
            <a:rect r="r" b="b" t="t" l="l"/>
            <a:pathLst>
              <a:path h="190751" w="195724">
                <a:moveTo>
                  <a:pt x="0" y="0"/>
                </a:moveTo>
                <a:lnTo>
                  <a:pt x="195724" y="0"/>
                </a:lnTo>
                <a:lnTo>
                  <a:pt x="195724" y="190751"/>
                </a:lnTo>
                <a:lnTo>
                  <a:pt x="0" y="19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82747" y="2801938"/>
            <a:ext cx="16122507" cy="88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7"/>
              </a:lnSpc>
              <a:spcBef>
                <a:spcPct val="0"/>
              </a:spcBef>
            </a:pPr>
            <a:r>
              <a:rPr lang="en-US" sz="5162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PYTHON OOP → AGENTIC 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742113" y="657054"/>
            <a:ext cx="813226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Start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78436" y="657054"/>
            <a:ext cx="751945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b="true" sz="1399" spc="-5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67106" y="657054"/>
            <a:ext cx="928073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Classes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86033" y="657054"/>
            <a:ext cx="923532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Agents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31904" y="657054"/>
            <a:ext cx="917404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Methods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825032" y="6577196"/>
            <a:ext cx="184509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sz="1798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Classes • Objects • Methods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45943" y="7110662"/>
            <a:ext cx="163656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sz="1798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 Blueprints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2199" y="2797686"/>
            <a:ext cx="233267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CLASSES?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42113" y="657054"/>
            <a:ext cx="813226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8436" y="657054"/>
            <a:ext cx="751945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b="true" sz="1399" spc="-5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67106" y="657054"/>
            <a:ext cx="928073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86033" y="657054"/>
            <a:ext cx="923532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31904" y="657054"/>
            <a:ext cx="917404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6121956" y="1348091"/>
            <a:ext cx="6030586" cy="60305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464872" y="2770394"/>
            <a:ext cx="12789882" cy="100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85"/>
              </a:lnSpc>
            </a:pPr>
            <a:r>
              <a:rPr lang="en-US" sz="7984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We Know Functions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2203" y="7286058"/>
            <a:ext cx="247242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2099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Functions are great for organizing actions and logic — each function does one specific job clearly and reusably.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9" y="724977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5400000">
            <a:off x="1028700" y="4372534"/>
            <a:ext cx="2472426" cy="247242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8455" y="4512289"/>
            <a:ext cx="2192916" cy="219291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60747" y="5313472"/>
            <a:ext cx="200833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Functions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Organize Logic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5" y="926306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6954260" y="2094767"/>
            <a:ext cx="300494" cy="313849"/>
            <a:chOff x="0" y="0"/>
            <a:chExt cx="571500" cy="596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5400000">
            <a:off x="1060165" y="2004933"/>
            <a:ext cx="356547" cy="363501"/>
          </a:xfrm>
          <a:custGeom>
            <a:avLst/>
            <a:gdLst/>
            <a:ahLst/>
            <a:cxnLst/>
            <a:rect r="r" b="b" t="t" l="l"/>
            <a:pathLst>
              <a:path h="363501" w="356547">
                <a:moveTo>
                  <a:pt x="0" y="0"/>
                </a:moveTo>
                <a:lnTo>
                  <a:pt x="356547" y="0"/>
                </a:lnTo>
                <a:lnTo>
                  <a:pt x="356547" y="363501"/>
                </a:lnTo>
                <a:lnTo>
                  <a:pt x="0" y="36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478371" y="7267008"/>
            <a:ext cx="247242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2099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As programs grow, data and the actions that use it naturally belong together — keeping them separate gets messy.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4464877" y="724977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5400000">
            <a:off x="4478362" y="4372534"/>
            <a:ext cx="2472426" cy="247242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618117" y="4512289"/>
            <a:ext cx="2192916" cy="219291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4788729" y="5314261"/>
            <a:ext cx="183820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Becomes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Related</a:t>
            </a:r>
          </a:p>
        </p:txBody>
      </p:sp>
      <p:sp>
        <p:nvSpPr>
          <p:cNvPr name="AutoShape 45" id="45"/>
          <p:cNvSpPr/>
          <p:nvPr/>
        </p:nvSpPr>
        <p:spPr>
          <a:xfrm>
            <a:off x="4464872" y="926306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7914539" y="7347970"/>
            <a:ext cx="2472426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2099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class bundles both data (what it knows) and functions (what it does) into one clean, organized structure.</a:t>
            </a:r>
          </a:p>
        </p:txBody>
      </p:sp>
      <p:sp>
        <p:nvSpPr>
          <p:cNvPr name="AutoShape 47" id="47"/>
          <p:cNvSpPr/>
          <p:nvPr/>
        </p:nvSpPr>
        <p:spPr>
          <a:xfrm>
            <a:off x="7901045" y="724977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5400000">
            <a:off x="7914534" y="4372534"/>
            <a:ext cx="2472426" cy="2472426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054289" y="4512289"/>
            <a:ext cx="2192916" cy="2192916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197130" y="5314261"/>
            <a:ext cx="188023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Classes Keep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Them Together</a:t>
            </a:r>
          </a:p>
        </p:txBody>
      </p:sp>
      <p:sp>
        <p:nvSpPr>
          <p:cNvPr name="AutoShape 55" id="55"/>
          <p:cNvSpPr/>
          <p:nvPr/>
        </p:nvSpPr>
        <p:spPr>
          <a:xfrm>
            <a:off x="7901040" y="926306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11350707" y="7267008"/>
            <a:ext cx="247242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2099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Ask yourself : "What does this thing know and what can it do?" That question is the key to designing a class.</a:t>
            </a:r>
          </a:p>
        </p:txBody>
      </p:sp>
      <p:sp>
        <p:nvSpPr>
          <p:cNvPr name="AutoShape 57" id="57"/>
          <p:cNvSpPr/>
          <p:nvPr/>
        </p:nvSpPr>
        <p:spPr>
          <a:xfrm>
            <a:off x="11337213" y="724977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5400000">
            <a:off x="11383724" y="4372534"/>
            <a:ext cx="2472426" cy="2472426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523479" y="4512289"/>
            <a:ext cx="2192916" cy="2192916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698660" y="5313472"/>
            <a:ext cx="184255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 Does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It Know &amp; Do?</a:t>
            </a:r>
          </a:p>
        </p:txBody>
      </p:sp>
      <p:sp>
        <p:nvSpPr>
          <p:cNvPr name="AutoShape 65" id="65"/>
          <p:cNvSpPr/>
          <p:nvPr/>
        </p:nvSpPr>
        <p:spPr>
          <a:xfrm>
            <a:off x="11337208" y="926306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4786874" y="7331052"/>
            <a:ext cx="2472426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Before : scattered variables and functions. </a:t>
            </a:r>
          </a:p>
          <a:p>
            <a:pPr algn="l" marL="0" indent="0" lvl="0">
              <a:lnSpc>
                <a:spcPts val="2279"/>
              </a:lnSpc>
            </a:pPr>
            <a:r>
              <a:rPr lang="en-US" sz="1899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After : one class holds a student's name and their introduce() method together.</a:t>
            </a:r>
          </a:p>
        </p:txBody>
      </p:sp>
      <p:sp>
        <p:nvSpPr>
          <p:cNvPr name="AutoShape 67" id="67"/>
          <p:cNvSpPr/>
          <p:nvPr/>
        </p:nvSpPr>
        <p:spPr>
          <a:xfrm>
            <a:off x="14773380" y="724977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5400000">
            <a:off x="14773371" y="4372534"/>
            <a:ext cx="2472426" cy="2472426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913126" y="4512289"/>
            <a:ext cx="2192916" cy="2192916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5121264" y="5313472"/>
            <a:ext cx="177664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Before vs.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After Classes</a:t>
            </a:r>
          </a:p>
        </p:txBody>
      </p:sp>
      <p:sp>
        <p:nvSpPr>
          <p:cNvPr name="AutoShape 75" id="75"/>
          <p:cNvSpPr/>
          <p:nvPr/>
        </p:nvSpPr>
        <p:spPr>
          <a:xfrm>
            <a:off x="14773376" y="9263062"/>
            <a:ext cx="2485915" cy="2381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6" id="76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716717" y="2025826"/>
            <a:ext cx="7232474" cy="72324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5400000">
            <a:off x="2400557" y="1659750"/>
            <a:ext cx="6030586" cy="60305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47260" y="2998854"/>
            <a:ext cx="7983882" cy="216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6"/>
              </a:lnSpc>
            </a:pPr>
            <a:r>
              <a:rPr lang="en-US" sz="9040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Creating</a:t>
            </a:r>
          </a:p>
          <a:p>
            <a:pPr algn="l" marL="0" indent="0" lvl="0">
              <a:lnSpc>
                <a:spcPts val="8136"/>
              </a:lnSpc>
            </a:pPr>
            <a:r>
              <a:rPr lang="en-US" sz="9040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a Class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8984007" y="7830270"/>
            <a:ext cx="8275288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5400000">
            <a:off x="5718966" y="5544416"/>
            <a:ext cx="2472426" cy="247242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58721" y="5684171"/>
            <a:ext cx="2192916" cy="219291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84007" y="2025826"/>
            <a:ext cx="3732710" cy="2922090"/>
            <a:chOff x="0" y="0"/>
            <a:chExt cx="578294" cy="4527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8294" cy="452708"/>
            </a:xfrm>
            <a:custGeom>
              <a:avLst/>
              <a:gdLst/>
              <a:ahLst/>
              <a:cxnLst/>
              <a:rect r="r" b="b" t="t" l="l"/>
              <a:pathLst>
                <a:path h="452708" w="578294">
                  <a:moveTo>
                    <a:pt x="105778" y="0"/>
                  </a:moveTo>
                  <a:lnTo>
                    <a:pt x="472517" y="0"/>
                  </a:lnTo>
                  <a:cubicBezTo>
                    <a:pt x="500571" y="0"/>
                    <a:pt x="527476" y="11144"/>
                    <a:pt x="547313" y="30982"/>
                  </a:cubicBezTo>
                  <a:cubicBezTo>
                    <a:pt x="567150" y="50819"/>
                    <a:pt x="578294" y="77724"/>
                    <a:pt x="578294" y="105778"/>
                  </a:cubicBezTo>
                  <a:lnTo>
                    <a:pt x="578294" y="346930"/>
                  </a:lnTo>
                  <a:cubicBezTo>
                    <a:pt x="578294" y="374984"/>
                    <a:pt x="567150" y="401889"/>
                    <a:pt x="547313" y="421727"/>
                  </a:cubicBezTo>
                  <a:cubicBezTo>
                    <a:pt x="527476" y="441564"/>
                    <a:pt x="500571" y="452708"/>
                    <a:pt x="472517" y="452708"/>
                  </a:cubicBezTo>
                  <a:lnTo>
                    <a:pt x="105778" y="452708"/>
                  </a:lnTo>
                  <a:cubicBezTo>
                    <a:pt x="77724" y="452708"/>
                    <a:pt x="50819" y="441564"/>
                    <a:pt x="30982" y="421727"/>
                  </a:cubicBezTo>
                  <a:cubicBezTo>
                    <a:pt x="11144" y="401889"/>
                    <a:pt x="0" y="374984"/>
                    <a:pt x="0" y="346930"/>
                  </a:cubicBezTo>
                  <a:lnTo>
                    <a:pt x="0" y="105778"/>
                  </a:lnTo>
                  <a:cubicBezTo>
                    <a:pt x="0" y="77724"/>
                    <a:pt x="11144" y="50819"/>
                    <a:pt x="30982" y="30982"/>
                  </a:cubicBezTo>
                  <a:cubicBezTo>
                    <a:pt x="50819" y="11144"/>
                    <a:pt x="77724" y="0"/>
                    <a:pt x="105778" y="0"/>
                  </a:cubicBezTo>
                  <a:close/>
                </a:path>
              </a:pathLst>
            </a:custGeom>
            <a:blipFill>
              <a:blip r:embed="rId4"/>
              <a:stretch>
                <a:fillRect l="-181" t="0" r="-18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92629" y="2025826"/>
            <a:ext cx="3732710" cy="2922090"/>
            <a:chOff x="0" y="0"/>
            <a:chExt cx="578294" cy="4527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8294" cy="452708"/>
            </a:xfrm>
            <a:custGeom>
              <a:avLst/>
              <a:gdLst/>
              <a:ahLst/>
              <a:cxnLst/>
              <a:rect r="r" b="b" t="t" l="l"/>
              <a:pathLst>
                <a:path h="452708" w="578294">
                  <a:moveTo>
                    <a:pt x="105778" y="0"/>
                  </a:moveTo>
                  <a:lnTo>
                    <a:pt x="472517" y="0"/>
                  </a:lnTo>
                  <a:cubicBezTo>
                    <a:pt x="500571" y="0"/>
                    <a:pt x="527476" y="11144"/>
                    <a:pt x="547313" y="30982"/>
                  </a:cubicBezTo>
                  <a:cubicBezTo>
                    <a:pt x="567150" y="50819"/>
                    <a:pt x="578294" y="77724"/>
                    <a:pt x="578294" y="105778"/>
                  </a:cubicBezTo>
                  <a:lnTo>
                    <a:pt x="578294" y="346930"/>
                  </a:lnTo>
                  <a:cubicBezTo>
                    <a:pt x="578294" y="374984"/>
                    <a:pt x="567150" y="401889"/>
                    <a:pt x="547313" y="421727"/>
                  </a:cubicBezTo>
                  <a:cubicBezTo>
                    <a:pt x="527476" y="441564"/>
                    <a:pt x="500571" y="452708"/>
                    <a:pt x="472517" y="452708"/>
                  </a:cubicBezTo>
                  <a:lnTo>
                    <a:pt x="105778" y="452708"/>
                  </a:lnTo>
                  <a:cubicBezTo>
                    <a:pt x="77724" y="452708"/>
                    <a:pt x="50819" y="441564"/>
                    <a:pt x="30982" y="421727"/>
                  </a:cubicBezTo>
                  <a:cubicBezTo>
                    <a:pt x="11144" y="401889"/>
                    <a:pt x="0" y="374984"/>
                    <a:pt x="0" y="346930"/>
                  </a:cubicBezTo>
                  <a:lnTo>
                    <a:pt x="0" y="105778"/>
                  </a:lnTo>
                  <a:cubicBezTo>
                    <a:pt x="0" y="77724"/>
                    <a:pt x="11144" y="50819"/>
                    <a:pt x="30982" y="30982"/>
                  </a:cubicBezTo>
                  <a:cubicBezTo>
                    <a:pt x="50819" y="11144"/>
                    <a:pt x="77724" y="0"/>
                    <a:pt x="105778" y="0"/>
                  </a:cubicBezTo>
                  <a:close/>
                </a:path>
              </a:pathLst>
            </a:custGeom>
            <a:blipFill>
              <a:blip r:embed="rId5"/>
              <a:stretch>
                <a:fillRect l="-181" t="0" r="-18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-5400000">
            <a:off x="7884219" y="2072724"/>
            <a:ext cx="300494" cy="313849"/>
            <a:chOff x="0" y="0"/>
            <a:chExt cx="571500" cy="59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5400000">
            <a:off x="1106943" y="6435686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984007" y="8086725"/>
            <a:ext cx="8275293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</a:pPr>
            <a:r>
              <a:rPr lang="en-US" sz="2199" spc="-8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Think of a class like an architectural blueprint. The blueprint is not a house — it describes how to build one. </a:t>
            </a:r>
          </a:p>
          <a:p>
            <a:pPr algn="l" marL="0" indent="0" lvl="0">
              <a:lnSpc>
                <a:spcPts val="2639"/>
              </a:lnSpc>
            </a:pPr>
            <a:r>
              <a:rPr lang="en-US" sz="2199" spc="-8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 Python, class Student: defines the structure. pass is a placeholder meaning the body is empty for now. From this single blueprint, you can create many individual Student objects, each with their own unique data and behavior.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42113" y="676104"/>
            <a:ext cx="8132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78436" y="676104"/>
            <a:ext cx="75194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4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67106" y="676104"/>
            <a:ext cx="92807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86033" y="676104"/>
            <a:ext cx="92353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31904" y="676104"/>
            <a:ext cx="917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984007" y="5515841"/>
            <a:ext cx="37038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 Syntax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012872" y="5916466"/>
            <a:ext cx="3703845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class Student: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pass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class creates a class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Student is the class name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pass means "nothing here yet"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• A class is a blueprint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555455" y="5515841"/>
            <a:ext cx="37038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Blueprint → Object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555455" y="5916466"/>
            <a:ext cx="3703845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399" spc="-9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class is not the student itself — it is the template used to create students. One blueprint, many objects.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58721" y="6422281"/>
            <a:ext cx="210838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BLUEPRINT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42113" y="676104"/>
            <a:ext cx="8132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8436" y="676104"/>
            <a:ext cx="75194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4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67106" y="676104"/>
            <a:ext cx="92807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6033" y="676104"/>
            <a:ext cx="92353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31904" y="676104"/>
            <a:ext cx="917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-2115757" y="2606681"/>
            <a:ext cx="7680319" cy="768031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4423383" y="2030730"/>
            <a:ext cx="4346833" cy="434683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6364662" y="2080949"/>
            <a:ext cx="5558676" cy="555867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78869" y="2395155"/>
            <a:ext cx="4930263" cy="493026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701822" y="4279639"/>
            <a:ext cx="4884357" cy="130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8"/>
              </a:lnSpc>
            </a:pPr>
            <a:r>
              <a:rPr lang="en-US" sz="5476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Creating Objects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23338" y="8315325"/>
            <a:ext cx="141795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1770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Independent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22272" y="8315325"/>
            <a:ext cx="2835917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2"/>
              </a:lnSpc>
            </a:pPr>
            <a:r>
              <a:rPr lang="en-US" sz="1985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Each object holds its own data independently. Changing data on student1 does not affect student2 — they are distinct.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24449" y="6696650"/>
            <a:ext cx="141795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1770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One Class, Many Objects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23383" y="6489337"/>
            <a:ext cx="283591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</a:pPr>
            <a:r>
              <a:rPr lang="en-US" sz="1799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single class definition can produce unlimited objects. student1 and student2 are separate instances from the same Student class.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73959" y="4015667"/>
            <a:ext cx="2729016" cy="34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7"/>
              </a:lnSpc>
            </a:pPr>
            <a:r>
              <a:rPr lang="en-US" b="true" sz="2123" spc="-8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Instance = Object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23383" y="4952203"/>
            <a:ext cx="283591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1999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 object is an instance of a class. The class is the blueprint; the object is the real thing built from it.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64662" y="8324991"/>
            <a:ext cx="141795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4"/>
              </a:lnSpc>
            </a:pPr>
            <a:r>
              <a:rPr lang="en-US" b="true" sz="1770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Quick Check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67106" y="8315466"/>
            <a:ext cx="283591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2"/>
              </a:lnSpc>
            </a:pPr>
            <a:r>
              <a:rPr lang="en-US" sz="2785" spc="-11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Are student1 and student2 the same object?</a:t>
            </a:r>
          </a:p>
        </p:txBody>
      </p:sp>
      <p:grpSp>
        <p:nvGrpSpPr>
          <p:cNvPr name="Group 38" id="38"/>
          <p:cNvGrpSpPr/>
          <p:nvPr/>
        </p:nvGrpSpPr>
        <p:grpSpPr>
          <a:xfrm rot="-5400000">
            <a:off x="16952128" y="3110018"/>
            <a:ext cx="300494" cy="313849"/>
            <a:chOff x="0" y="0"/>
            <a:chExt cx="571500" cy="596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5400000">
            <a:off x="6442905" y="2042230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028700" y="2030730"/>
            <a:ext cx="4535862" cy="2101737"/>
            <a:chOff x="0" y="0"/>
            <a:chExt cx="1194630" cy="5535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4630" cy="553544"/>
            </a:xfrm>
            <a:custGeom>
              <a:avLst/>
              <a:gdLst/>
              <a:ahLst/>
              <a:cxnLst/>
              <a:rect r="r" b="b" t="t" l="l"/>
              <a:pathLst>
                <a:path h="553544" w="1194630">
                  <a:moveTo>
                    <a:pt x="51205" y="0"/>
                  </a:moveTo>
                  <a:lnTo>
                    <a:pt x="1143426" y="0"/>
                  </a:lnTo>
                  <a:cubicBezTo>
                    <a:pt x="1157006" y="0"/>
                    <a:pt x="1170030" y="5395"/>
                    <a:pt x="1179633" y="14998"/>
                  </a:cubicBezTo>
                  <a:cubicBezTo>
                    <a:pt x="1189236" y="24600"/>
                    <a:pt x="1194630" y="37624"/>
                    <a:pt x="1194630" y="51205"/>
                  </a:cubicBezTo>
                  <a:lnTo>
                    <a:pt x="1194630" y="502339"/>
                  </a:lnTo>
                  <a:cubicBezTo>
                    <a:pt x="1194630" y="515920"/>
                    <a:pt x="1189236" y="528944"/>
                    <a:pt x="1179633" y="538546"/>
                  </a:cubicBezTo>
                  <a:cubicBezTo>
                    <a:pt x="1170030" y="548149"/>
                    <a:pt x="1157006" y="553544"/>
                    <a:pt x="1143426" y="553544"/>
                  </a:cubicBezTo>
                  <a:lnTo>
                    <a:pt x="51205" y="553544"/>
                  </a:lnTo>
                  <a:cubicBezTo>
                    <a:pt x="37624" y="553544"/>
                    <a:pt x="24600" y="548149"/>
                    <a:pt x="14998" y="538546"/>
                  </a:cubicBezTo>
                  <a:cubicBezTo>
                    <a:pt x="5395" y="528944"/>
                    <a:pt x="0" y="515920"/>
                    <a:pt x="0" y="502339"/>
                  </a:cubicBezTo>
                  <a:lnTo>
                    <a:pt x="0" y="51205"/>
                  </a:lnTo>
                  <a:cubicBezTo>
                    <a:pt x="0" y="37624"/>
                    <a:pt x="5395" y="24600"/>
                    <a:pt x="14998" y="14998"/>
                  </a:cubicBezTo>
                  <a:cubicBezTo>
                    <a:pt x="24600" y="5395"/>
                    <a:pt x="37624" y="0"/>
                    <a:pt x="51205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94630" cy="591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678175" y="2193711"/>
            <a:ext cx="323691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b="true" sz="1800" spc="-7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One class can create many objects. Each object is an independent instance with its own data.</a:t>
            </a:r>
          </a:p>
          <a:p>
            <a:pPr algn="l" marL="0" indent="0" lvl="0">
              <a:lnSpc>
                <a:spcPts val="2160"/>
              </a:lnSpc>
            </a:pPr>
            <a:r>
              <a:rPr lang="en-US" b="true" sz="1800" spc="-7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student1 = Student()</a:t>
            </a:r>
          </a:p>
          <a:p>
            <a:pPr algn="l" marL="0" indent="0" lvl="0">
              <a:lnSpc>
                <a:spcPts val="2160"/>
              </a:lnSpc>
            </a:pPr>
            <a:r>
              <a:rPr lang="en-US" b="true" sz="1800" spc="-7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student2 = Student()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50802" y="5362514"/>
            <a:ext cx="4513760" cy="3905452"/>
            <a:chOff x="0" y="0"/>
            <a:chExt cx="699300" cy="6050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9300" cy="605057"/>
            </a:xfrm>
            <a:custGeom>
              <a:avLst/>
              <a:gdLst/>
              <a:ahLst/>
              <a:cxnLst/>
              <a:rect r="r" b="b" t="t" l="l"/>
              <a:pathLst>
                <a:path h="605057" w="699300">
                  <a:moveTo>
                    <a:pt x="87474" y="0"/>
                  </a:moveTo>
                  <a:lnTo>
                    <a:pt x="611825" y="0"/>
                  </a:lnTo>
                  <a:cubicBezTo>
                    <a:pt x="635025" y="0"/>
                    <a:pt x="657274" y="9216"/>
                    <a:pt x="673679" y="25621"/>
                  </a:cubicBezTo>
                  <a:cubicBezTo>
                    <a:pt x="690084" y="42025"/>
                    <a:pt x="699300" y="64275"/>
                    <a:pt x="699300" y="87474"/>
                  </a:cubicBezTo>
                  <a:lnTo>
                    <a:pt x="699300" y="517582"/>
                  </a:lnTo>
                  <a:cubicBezTo>
                    <a:pt x="699300" y="540782"/>
                    <a:pt x="690084" y="563031"/>
                    <a:pt x="673679" y="579436"/>
                  </a:cubicBezTo>
                  <a:cubicBezTo>
                    <a:pt x="657274" y="595841"/>
                    <a:pt x="635025" y="605057"/>
                    <a:pt x="611825" y="605057"/>
                  </a:cubicBezTo>
                  <a:lnTo>
                    <a:pt x="87474" y="605057"/>
                  </a:lnTo>
                  <a:cubicBezTo>
                    <a:pt x="64275" y="605057"/>
                    <a:pt x="42025" y="595841"/>
                    <a:pt x="25621" y="579436"/>
                  </a:cubicBezTo>
                  <a:cubicBezTo>
                    <a:pt x="9216" y="563031"/>
                    <a:pt x="0" y="540782"/>
                    <a:pt x="0" y="517582"/>
                  </a:cubicBezTo>
                  <a:lnTo>
                    <a:pt x="0" y="87474"/>
                  </a:lnTo>
                  <a:cubicBezTo>
                    <a:pt x="0" y="64275"/>
                    <a:pt x="9216" y="42025"/>
                    <a:pt x="25621" y="25621"/>
                  </a:cubicBezTo>
                  <a:cubicBezTo>
                    <a:pt x="42025" y="9216"/>
                    <a:pt x="64275" y="0"/>
                    <a:pt x="8747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3" r="0" b="-20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5400000">
            <a:off x="12824449" y="2030730"/>
            <a:ext cx="2472426" cy="2472426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964204" y="2170485"/>
            <a:ext cx="2192916" cy="2192916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000983" y="2838317"/>
            <a:ext cx="211935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"/>
              </a:lnSpc>
            </a:pPr>
            <a:r>
              <a:rPr lang="en-US" b="true" sz="1770" spc="-70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INSTANCES &amp; OBJECT CREATION</a:t>
            </a:r>
          </a:p>
        </p:txBody>
      </p:sp>
      <p:sp>
        <p:nvSpPr>
          <p:cNvPr name="AutoShape 55" id="55"/>
          <p:cNvSpPr/>
          <p:nvPr/>
        </p:nvSpPr>
        <p:spPr>
          <a:xfrm flipV="true">
            <a:off x="6364662" y="7991762"/>
            <a:ext cx="10894638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2824449" y="6377562"/>
            <a:ext cx="4434851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0" y="2057400"/>
            <a:ext cx="8229981" cy="82299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099846"/>
            <a:ext cx="5893988" cy="186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4"/>
              </a:lnSpc>
            </a:pPr>
            <a:r>
              <a:rPr lang="en-US" sz="7793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init</a:t>
            </a:r>
          </a:p>
          <a:p>
            <a:pPr algn="l" marL="0" indent="0" lvl="0">
              <a:lnSpc>
                <a:spcPts val="7014"/>
              </a:lnSpc>
            </a:pPr>
            <a:r>
              <a:rPr lang="en-US" sz="7793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&amp; self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5621" y="2214325"/>
            <a:ext cx="6514395" cy="651439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4390071"/>
            <a:ext cx="10760796" cy="4868229"/>
            <a:chOff x="0" y="0"/>
            <a:chExt cx="2834119" cy="12821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34119" cy="1282167"/>
            </a:xfrm>
            <a:custGeom>
              <a:avLst/>
              <a:gdLst/>
              <a:ahLst/>
              <a:cxnLst/>
              <a:rect r="r" b="b" t="t" l="l"/>
              <a:pathLst>
                <a:path h="1282167" w="2834119">
                  <a:moveTo>
                    <a:pt x="21584" y="0"/>
                  </a:moveTo>
                  <a:lnTo>
                    <a:pt x="2812535" y="0"/>
                  </a:lnTo>
                  <a:cubicBezTo>
                    <a:pt x="2824456" y="0"/>
                    <a:pt x="2834119" y="9663"/>
                    <a:pt x="2834119" y="21584"/>
                  </a:cubicBezTo>
                  <a:lnTo>
                    <a:pt x="2834119" y="1260584"/>
                  </a:lnTo>
                  <a:cubicBezTo>
                    <a:pt x="2834119" y="1266308"/>
                    <a:pt x="2831845" y="1271798"/>
                    <a:pt x="2827797" y="1275846"/>
                  </a:cubicBezTo>
                  <a:cubicBezTo>
                    <a:pt x="2823750" y="1279893"/>
                    <a:pt x="2818260" y="1282167"/>
                    <a:pt x="2812535" y="1282167"/>
                  </a:cubicBezTo>
                  <a:lnTo>
                    <a:pt x="21584" y="1282167"/>
                  </a:lnTo>
                  <a:cubicBezTo>
                    <a:pt x="9663" y="1282167"/>
                    <a:pt x="0" y="1272504"/>
                    <a:pt x="0" y="1260584"/>
                  </a:cubicBezTo>
                  <a:lnTo>
                    <a:pt x="0" y="21584"/>
                  </a:lnTo>
                  <a:cubicBezTo>
                    <a:pt x="0" y="15859"/>
                    <a:pt x="2274" y="10369"/>
                    <a:pt x="6322" y="6322"/>
                  </a:cubicBezTo>
                  <a:cubicBezTo>
                    <a:pt x="10369" y="2274"/>
                    <a:pt x="15859" y="0"/>
                    <a:pt x="21584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834119" cy="132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1789496" y="2057400"/>
            <a:ext cx="2472426" cy="247242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29251" y="2197155"/>
            <a:ext cx="2192916" cy="219291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897319" y="6060310"/>
            <a:ext cx="3941038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924241" y="7625496"/>
            <a:ext cx="9023557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-10800000">
            <a:off x="16958806" y="2057400"/>
            <a:ext cx="300494" cy="313849"/>
            <a:chOff x="0" y="0"/>
            <a:chExt cx="571500" cy="59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5400000">
            <a:off x="5488293" y="3289051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2"/>
                </a:lnTo>
                <a:lnTo>
                  <a:pt x="0" y="360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932496" y="4217538"/>
            <a:ext cx="5239153" cy="5325695"/>
            <a:chOff x="0" y="0"/>
            <a:chExt cx="6985537" cy="71009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85537" cy="7100927"/>
            </a:xfrm>
            <a:custGeom>
              <a:avLst/>
              <a:gdLst/>
              <a:ahLst/>
              <a:cxnLst/>
              <a:rect r="r" b="b" t="t" l="l"/>
              <a:pathLst>
                <a:path h="7100927" w="6985537">
                  <a:moveTo>
                    <a:pt x="0" y="0"/>
                  </a:moveTo>
                  <a:lnTo>
                    <a:pt x="6985537" y="0"/>
                  </a:lnTo>
                  <a:lnTo>
                    <a:pt x="6985537" y="7100927"/>
                  </a:lnTo>
                  <a:lnTo>
                    <a:pt x="0" y="7100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5400000">
              <a:off x="2150879" y="-898877"/>
              <a:ext cx="2598721" cy="6299960"/>
            </a:xfrm>
            <a:custGeom>
              <a:avLst/>
              <a:gdLst/>
              <a:ahLst/>
              <a:cxnLst/>
              <a:rect r="r" b="b" t="t" l="l"/>
              <a:pathLst>
                <a:path h="6299960" w="2598721">
                  <a:moveTo>
                    <a:pt x="0" y="0"/>
                  </a:moveTo>
                  <a:lnTo>
                    <a:pt x="2598721" y="0"/>
                  </a:lnTo>
                  <a:lnTo>
                    <a:pt x="2598721" y="6299960"/>
                  </a:lnTo>
                  <a:lnTo>
                    <a:pt x="0" y="629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955" t="0" r="-136469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742113" y="666579"/>
            <a:ext cx="813226" cy="22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sz="1230" spc="-4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78436" y="666579"/>
            <a:ext cx="751945" cy="22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 spc="-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67106" y="666579"/>
            <a:ext cx="928073" cy="22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sz="1230" spc="-49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86033" y="666579"/>
            <a:ext cx="923532" cy="22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sz="1230" spc="-49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31904" y="666579"/>
            <a:ext cx="917404" cy="22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2"/>
              </a:lnSpc>
              <a:spcBef>
                <a:spcPct val="0"/>
              </a:spcBef>
            </a:pPr>
            <a:r>
              <a:rPr lang="en-US" sz="1230" spc="-49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97319" y="7677883"/>
            <a:ext cx="394103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b="true" sz="2198" spc="-8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Blueprint in Action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97319" y="8086725"/>
            <a:ext cx="394103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918" spc="-7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One class definition creates many unique objects. The </a:t>
            </a:r>
            <a:r>
              <a:rPr lang="en-US" b="true" sz="1918" spc="-7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init</a:t>
            </a:r>
            <a:r>
              <a:rPr lang="en-US" sz="1918" spc="-7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method personalizes each one at creation time.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97319" y="4501251"/>
            <a:ext cx="39410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8"/>
              </a:lnSpc>
            </a:pPr>
            <a:r>
              <a:rPr lang="en-US" b="true" sz="2898" spc="-11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init Method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97319" y="5017323"/>
            <a:ext cx="394103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2"/>
              </a:lnSpc>
            </a:pPr>
            <a:r>
              <a:rPr lang="en-US" sz="2018" spc="-8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Runs automatically when a new object is created. Sets up the object's starting data.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97319" y="6103173"/>
            <a:ext cx="394103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8"/>
              </a:lnSpc>
            </a:pPr>
            <a:r>
              <a:rPr lang="en-US" b="true" sz="2498" spc="-9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self Keyword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24241" y="6560373"/>
            <a:ext cx="394103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Refers to the current object. Lets the object refer to its own data and methods.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79838" y="5293548"/>
            <a:ext cx="394103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8"/>
              </a:lnSpc>
            </a:pPr>
            <a:r>
              <a:rPr lang="en-US" b="true" sz="2398" spc="-9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self.name Attribute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79838" y="5931723"/>
            <a:ext cx="394103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Creates a named attribute on the object. Each object stores its own value independently.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79838" y="7858858"/>
            <a:ext cx="39410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b="true" sz="2798" spc="-11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Different State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79838" y="8362950"/>
            <a:ext cx="442972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918" spc="-7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student1 = Student("Swathi") and student2 = Student("Harsh") share one class but hold different data.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929251" y="2864988"/>
            <a:ext cx="219291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OBJECTS GET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UNIQUE DATA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HERE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284477" y="5114925"/>
            <a:ext cx="453519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class Student:</a:t>
            </a:r>
          </a:p>
          <a:p>
            <a:pPr algn="l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     def __init__(self, name):</a:t>
            </a:r>
          </a:p>
          <a:p>
            <a:pPr algn="l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                 stud1 = Student(“swathi”)</a:t>
            </a:r>
          </a:p>
          <a:p>
            <a:pPr algn="l" marL="0" indent="0" lvl="0">
              <a:lnSpc>
                <a:spcPts val="2662"/>
              </a:lnSpc>
            </a:pPr>
            <a:r>
              <a:rPr lang="en-US" sz="2218" spc="-8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                  stud2 = Student(“harsh”)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554061" y="3215072"/>
            <a:ext cx="5499706" cy="549970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6892" y="5228846"/>
            <a:ext cx="335614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9"/>
              </a:lnSpc>
            </a:pPr>
            <a:r>
              <a:rPr lang="en-US" b="true" sz="1200" spc="-48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METHODS &amp; BEHAVIOR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000403"/>
            <a:ext cx="3269000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2"/>
              </a:lnSpc>
            </a:pPr>
            <a:r>
              <a:rPr lang="en-US" b="true" sz="1785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Call a method using dot notation: object.method(). Methods always receive self as the first parameter, giving them access to the object's own data.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42113" y="676104"/>
            <a:ext cx="8132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8436" y="676104"/>
            <a:ext cx="75194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4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67106" y="676104"/>
            <a:ext cx="92807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86033" y="676104"/>
            <a:ext cx="92353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1904" y="676104"/>
            <a:ext cx="917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45400" y="1978732"/>
            <a:ext cx="12860482" cy="293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13"/>
              </a:lnSpc>
            </a:pPr>
            <a:r>
              <a:rPr lang="en-US" sz="8348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Functions</a:t>
            </a:r>
          </a:p>
          <a:p>
            <a:pPr algn="l" marL="0" indent="0" lvl="0">
              <a:lnSpc>
                <a:spcPts val="7513"/>
              </a:lnSpc>
            </a:pPr>
            <a:r>
              <a:rPr lang="en-US" sz="8348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Inside Classes</a:t>
            </a:r>
          </a:p>
          <a:p>
            <a:pPr algn="l" marL="0" indent="0" lvl="0">
              <a:lnSpc>
                <a:spcPts val="7513"/>
              </a:lnSpc>
            </a:pPr>
            <a:r>
              <a:rPr lang="en-US" sz="8348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= Methods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141923" y="7485456"/>
            <a:ext cx="3504102" cy="1772844"/>
            <a:chOff x="0" y="0"/>
            <a:chExt cx="922891" cy="4669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2891" cy="466922"/>
            </a:xfrm>
            <a:custGeom>
              <a:avLst/>
              <a:gdLst/>
              <a:ahLst/>
              <a:cxnLst/>
              <a:rect r="r" b="b" t="t" l="l"/>
              <a:pathLst>
                <a:path h="466922" w="922891">
                  <a:moveTo>
                    <a:pt x="66282" y="0"/>
                  </a:moveTo>
                  <a:lnTo>
                    <a:pt x="856610" y="0"/>
                  </a:lnTo>
                  <a:cubicBezTo>
                    <a:pt x="874189" y="0"/>
                    <a:pt x="891047" y="6983"/>
                    <a:pt x="903478" y="19413"/>
                  </a:cubicBezTo>
                  <a:cubicBezTo>
                    <a:pt x="915908" y="31844"/>
                    <a:pt x="922891" y="48703"/>
                    <a:pt x="922891" y="66282"/>
                  </a:cubicBezTo>
                  <a:lnTo>
                    <a:pt x="922891" y="400640"/>
                  </a:lnTo>
                  <a:cubicBezTo>
                    <a:pt x="922891" y="418219"/>
                    <a:pt x="915908" y="435078"/>
                    <a:pt x="903478" y="447508"/>
                  </a:cubicBezTo>
                  <a:cubicBezTo>
                    <a:pt x="891047" y="459939"/>
                    <a:pt x="874189" y="466922"/>
                    <a:pt x="856610" y="466922"/>
                  </a:cubicBezTo>
                  <a:lnTo>
                    <a:pt x="66282" y="466922"/>
                  </a:lnTo>
                  <a:cubicBezTo>
                    <a:pt x="48703" y="466922"/>
                    <a:pt x="31844" y="459939"/>
                    <a:pt x="19413" y="447508"/>
                  </a:cubicBezTo>
                  <a:cubicBezTo>
                    <a:pt x="6983" y="435078"/>
                    <a:pt x="0" y="418219"/>
                    <a:pt x="0" y="400640"/>
                  </a:cubicBezTo>
                  <a:lnTo>
                    <a:pt x="0" y="66282"/>
                  </a:lnTo>
                  <a:cubicBezTo>
                    <a:pt x="0" y="48703"/>
                    <a:pt x="6983" y="31844"/>
                    <a:pt x="19413" y="19413"/>
                  </a:cubicBezTo>
                  <a:cubicBezTo>
                    <a:pt x="31844" y="6983"/>
                    <a:pt x="48703" y="0"/>
                    <a:pt x="66282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22891" cy="50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14768336" y="5381246"/>
            <a:ext cx="2472426" cy="247242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08091" y="5521001"/>
            <a:ext cx="2192916" cy="219291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158129" y="6312658"/>
            <a:ext cx="16928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b="true" sz="2099" spc="-8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Calling</a:t>
            </a:r>
          </a:p>
          <a:p>
            <a:pPr algn="ctr" marL="0" indent="0" lvl="0">
              <a:lnSpc>
                <a:spcPts val="2519"/>
              </a:lnSpc>
            </a:pPr>
            <a:r>
              <a:rPr lang="en-US" b="true" sz="2099" spc="-8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01949" y="7884527"/>
            <a:ext cx="277643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2"/>
              </a:lnSpc>
            </a:pPr>
            <a:r>
              <a:rPr lang="en-US" sz="1885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student1.introduce()</a:t>
            </a:r>
          </a:p>
          <a:p>
            <a:pPr algn="l" marL="0" indent="0" lvl="0">
              <a:lnSpc>
                <a:spcPts val="2262"/>
              </a:lnSpc>
            </a:pPr>
            <a:r>
              <a:rPr lang="en-US" sz="1885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 object.method() syntax to call a method on a specific instance.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44238" y="7485456"/>
            <a:ext cx="3504102" cy="1772844"/>
            <a:chOff x="0" y="0"/>
            <a:chExt cx="922891" cy="4669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2891" cy="466922"/>
            </a:xfrm>
            <a:custGeom>
              <a:avLst/>
              <a:gdLst/>
              <a:ahLst/>
              <a:cxnLst/>
              <a:rect r="r" b="b" t="t" l="l"/>
              <a:pathLst>
                <a:path h="466922" w="922891">
                  <a:moveTo>
                    <a:pt x="66282" y="0"/>
                  </a:moveTo>
                  <a:lnTo>
                    <a:pt x="856610" y="0"/>
                  </a:lnTo>
                  <a:cubicBezTo>
                    <a:pt x="874189" y="0"/>
                    <a:pt x="891047" y="6983"/>
                    <a:pt x="903478" y="19413"/>
                  </a:cubicBezTo>
                  <a:cubicBezTo>
                    <a:pt x="915908" y="31844"/>
                    <a:pt x="922891" y="48703"/>
                    <a:pt x="922891" y="66282"/>
                  </a:cubicBezTo>
                  <a:lnTo>
                    <a:pt x="922891" y="400640"/>
                  </a:lnTo>
                  <a:cubicBezTo>
                    <a:pt x="922891" y="418219"/>
                    <a:pt x="915908" y="435078"/>
                    <a:pt x="903478" y="447508"/>
                  </a:cubicBezTo>
                  <a:cubicBezTo>
                    <a:pt x="891047" y="459939"/>
                    <a:pt x="874189" y="466922"/>
                    <a:pt x="856610" y="466922"/>
                  </a:cubicBezTo>
                  <a:lnTo>
                    <a:pt x="66282" y="466922"/>
                  </a:lnTo>
                  <a:cubicBezTo>
                    <a:pt x="48703" y="466922"/>
                    <a:pt x="31844" y="459939"/>
                    <a:pt x="19413" y="447508"/>
                  </a:cubicBezTo>
                  <a:cubicBezTo>
                    <a:pt x="6983" y="435078"/>
                    <a:pt x="0" y="418219"/>
                    <a:pt x="0" y="400640"/>
                  </a:cubicBezTo>
                  <a:lnTo>
                    <a:pt x="0" y="66282"/>
                  </a:lnTo>
                  <a:cubicBezTo>
                    <a:pt x="0" y="48703"/>
                    <a:pt x="6983" y="31844"/>
                    <a:pt x="19413" y="19413"/>
                  </a:cubicBezTo>
                  <a:cubicBezTo>
                    <a:pt x="31844" y="6983"/>
                    <a:pt x="48703" y="0"/>
                    <a:pt x="66282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22891" cy="50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5400000">
            <a:off x="10670651" y="5381246"/>
            <a:ext cx="2472426" cy="247242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10406" y="5521001"/>
            <a:ext cx="2192916" cy="219291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100600" y="6369808"/>
            <a:ext cx="160054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9"/>
              </a:lnSpc>
            </a:pPr>
            <a:r>
              <a:rPr lang="en-US" b="true" sz="1899" spc="-7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</a:t>
            </a:r>
          </a:p>
          <a:p>
            <a:pPr algn="ctr" marL="0" indent="0" lvl="0">
              <a:lnSpc>
                <a:spcPts val="2279"/>
              </a:lnSpc>
            </a:pPr>
            <a:r>
              <a:rPr lang="en-US" b="true" sz="1899" spc="-7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Behavior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33766" y="7722912"/>
            <a:ext cx="2753281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2"/>
              </a:lnSpc>
            </a:pPr>
            <a:r>
              <a:rPr lang="en-US" sz="1785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Methods define what an object can do. Each method uses self to access the object's own attributes and state.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945400" y="7485456"/>
            <a:ext cx="3504102" cy="1772844"/>
            <a:chOff x="0" y="0"/>
            <a:chExt cx="922891" cy="46692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2891" cy="466922"/>
            </a:xfrm>
            <a:custGeom>
              <a:avLst/>
              <a:gdLst/>
              <a:ahLst/>
              <a:cxnLst/>
              <a:rect r="r" b="b" t="t" l="l"/>
              <a:pathLst>
                <a:path h="466922" w="922891">
                  <a:moveTo>
                    <a:pt x="66282" y="0"/>
                  </a:moveTo>
                  <a:lnTo>
                    <a:pt x="856610" y="0"/>
                  </a:lnTo>
                  <a:cubicBezTo>
                    <a:pt x="874189" y="0"/>
                    <a:pt x="891047" y="6983"/>
                    <a:pt x="903478" y="19413"/>
                  </a:cubicBezTo>
                  <a:cubicBezTo>
                    <a:pt x="915908" y="31844"/>
                    <a:pt x="922891" y="48703"/>
                    <a:pt x="922891" y="66282"/>
                  </a:cubicBezTo>
                  <a:lnTo>
                    <a:pt x="922891" y="400640"/>
                  </a:lnTo>
                  <a:cubicBezTo>
                    <a:pt x="922891" y="418219"/>
                    <a:pt x="915908" y="435078"/>
                    <a:pt x="903478" y="447508"/>
                  </a:cubicBezTo>
                  <a:cubicBezTo>
                    <a:pt x="891047" y="459939"/>
                    <a:pt x="874189" y="466922"/>
                    <a:pt x="856610" y="466922"/>
                  </a:cubicBezTo>
                  <a:lnTo>
                    <a:pt x="66282" y="466922"/>
                  </a:lnTo>
                  <a:cubicBezTo>
                    <a:pt x="48703" y="466922"/>
                    <a:pt x="31844" y="459939"/>
                    <a:pt x="19413" y="447508"/>
                  </a:cubicBezTo>
                  <a:cubicBezTo>
                    <a:pt x="6983" y="435078"/>
                    <a:pt x="0" y="418219"/>
                    <a:pt x="0" y="400640"/>
                  </a:cubicBezTo>
                  <a:lnTo>
                    <a:pt x="0" y="66282"/>
                  </a:lnTo>
                  <a:cubicBezTo>
                    <a:pt x="0" y="48703"/>
                    <a:pt x="6983" y="31844"/>
                    <a:pt x="19413" y="19413"/>
                  </a:cubicBezTo>
                  <a:cubicBezTo>
                    <a:pt x="31844" y="6983"/>
                    <a:pt x="48703" y="0"/>
                    <a:pt x="66282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22891" cy="50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5400000">
            <a:off x="6571813" y="5381246"/>
            <a:ext cx="2472426" cy="2472426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711568" y="5521001"/>
            <a:ext cx="2192916" cy="2192916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855167" y="6322183"/>
            <a:ext cx="189373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9"/>
              </a:lnSpc>
            </a:pPr>
            <a:r>
              <a:rPr lang="en-US" b="true" sz="1799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</a:t>
            </a:r>
          </a:p>
          <a:p>
            <a:pPr algn="ctr" marL="0" indent="0" lvl="0">
              <a:lnSpc>
                <a:spcPts val="2159"/>
              </a:lnSpc>
            </a:pPr>
            <a:r>
              <a:rPr lang="en-US" b="true" sz="1799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Definition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234875" y="7786091"/>
            <a:ext cx="3161663" cy="108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5"/>
              </a:lnSpc>
            </a:pPr>
            <a:r>
              <a:rPr lang="en-US" sz="1754" spc="-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def introduce(self):</a:t>
            </a:r>
          </a:p>
          <a:p>
            <a:pPr algn="l" marL="0" indent="0" lvl="0">
              <a:lnSpc>
                <a:spcPts val="2105"/>
              </a:lnSpc>
            </a:pPr>
            <a:r>
              <a:rPr lang="en-US" sz="1754" spc="-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print("Hi, I'm", self.name)</a:t>
            </a:r>
          </a:p>
          <a:p>
            <a:pPr algn="l" marL="0" indent="0" lvl="0">
              <a:lnSpc>
                <a:spcPts val="2105"/>
              </a:lnSpc>
            </a:pPr>
            <a:r>
              <a:rPr lang="en-US" sz="1754" spc="-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function inside a class is a method.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86892" y="6017383"/>
            <a:ext cx="271302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2"/>
              </a:lnSpc>
            </a:pPr>
            <a:r>
              <a:rPr lang="en-US" sz="1785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function defined inside a class is called a method. Methods give objects the ability to act, not just hold data. They define behavior.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584680" y="2261027"/>
            <a:ext cx="2713020" cy="2386793"/>
            <a:chOff x="0" y="0"/>
            <a:chExt cx="420318" cy="36977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318" cy="369777"/>
            </a:xfrm>
            <a:custGeom>
              <a:avLst/>
              <a:gdLst/>
              <a:ahLst/>
              <a:cxnLst/>
              <a:rect r="r" b="b" t="t" l="l"/>
              <a:pathLst>
                <a:path h="369777" w="420318">
                  <a:moveTo>
                    <a:pt x="145534" y="0"/>
                  </a:moveTo>
                  <a:lnTo>
                    <a:pt x="274783" y="0"/>
                  </a:lnTo>
                  <a:cubicBezTo>
                    <a:pt x="313381" y="0"/>
                    <a:pt x="350399" y="15333"/>
                    <a:pt x="377692" y="42626"/>
                  </a:cubicBezTo>
                  <a:cubicBezTo>
                    <a:pt x="404985" y="69919"/>
                    <a:pt x="420318" y="106936"/>
                    <a:pt x="420318" y="145534"/>
                  </a:cubicBezTo>
                  <a:lnTo>
                    <a:pt x="420318" y="224242"/>
                  </a:lnTo>
                  <a:cubicBezTo>
                    <a:pt x="420318" y="262840"/>
                    <a:pt x="404985" y="299858"/>
                    <a:pt x="377692" y="327151"/>
                  </a:cubicBezTo>
                  <a:cubicBezTo>
                    <a:pt x="350399" y="354444"/>
                    <a:pt x="313381" y="369777"/>
                    <a:pt x="274783" y="369777"/>
                  </a:cubicBezTo>
                  <a:lnTo>
                    <a:pt x="145534" y="369777"/>
                  </a:lnTo>
                  <a:cubicBezTo>
                    <a:pt x="106936" y="369777"/>
                    <a:pt x="69919" y="354444"/>
                    <a:pt x="42626" y="327151"/>
                  </a:cubicBezTo>
                  <a:cubicBezTo>
                    <a:pt x="15333" y="299858"/>
                    <a:pt x="0" y="262840"/>
                    <a:pt x="0" y="224242"/>
                  </a:cubicBezTo>
                  <a:lnTo>
                    <a:pt x="0" y="145534"/>
                  </a:lnTo>
                  <a:cubicBezTo>
                    <a:pt x="0" y="106936"/>
                    <a:pt x="15333" y="69919"/>
                    <a:pt x="42626" y="42626"/>
                  </a:cubicBezTo>
                  <a:cubicBezTo>
                    <a:pt x="69919" y="15333"/>
                    <a:pt x="106936" y="0"/>
                    <a:pt x="14553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7" r="0" b="-227"/>
              </a:stretch>
            </a:blipFill>
          </p:spPr>
        </p:sp>
      </p:grpSp>
      <p:sp>
        <p:nvSpPr>
          <p:cNvPr name="AutoShape 59" id="59"/>
          <p:cNvSpPr/>
          <p:nvPr/>
        </p:nvSpPr>
        <p:spPr>
          <a:xfrm>
            <a:off x="1586892" y="5792087"/>
            <a:ext cx="2711053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-5400000">
            <a:off x="5285698" y="6877481"/>
            <a:ext cx="300494" cy="313849"/>
            <a:chOff x="0" y="0"/>
            <a:chExt cx="571500" cy="596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9384536" y="6877481"/>
            <a:ext cx="300494" cy="313849"/>
            <a:chOff x="0" y="0"/>
            <a:chExt cx="571500" cy="5969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-5400000">
            <a:off x="13482221" y="6877481"/>
            <a:ext cx="300494" cy="313849"/>
            <a:chOff x="0" y="0"/>
            <a:chExt cx="571500" cy="5969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5400000">
            <a:off x="1106943" y="1979157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0" id="70"/>
          <p:cNvSpPr/>
          <p:nvPr/>
        </p:nvSpPr>
        <p:spPr>
          <a:xfrm>
            <a:off x="1028700" y="7718669"/>
            <a:ext cx="3269000" cy="32818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42113" y="657054"/>
            <a:ext cx="813226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8436" y="657054"/>
            <a:ext cx="751945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b="true" sz="1399" spc="-5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67106" y="657054"/>
            <a:ext cx="928073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6033" y="657054"/>
            <a:ext cx="923532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31904" y="657054"/>
            <a:ext cx="917404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60273" y="2117878"/>
            <a:ext cx="7140422" cy="714042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606581" y="2063475"/>
            <a:ext cx="7568083" cy="18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81"/>
              </a:lnSpc>
            </a:pPr>
            <a:r>
              <a:rPr lang="en-US" sz="7645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Mini Coding</a:t>
            </a:r>
          </a:p>
          <a:p>
            <a:pPr algn="l" marL="0" indent="0" lvl="0">
              <a:lnSpc>
                <a:spcPts val="6881"/>
              </a:lnSpc>
            </a:pPr>
            <a:r>
              <a:rPr lang="en-US" sz="7645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Challenge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08160" y="6286912"/>
            <a:ext cx="406386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</a:pPr>
            <a:r>
              <a:rPr lang="en-US" b="true" sz="2598" spc="-1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speak() Method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10370" y="6993876"/>
            <a:ext cx="406386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2098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Add a speak() method that prints the robot's name and a message.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0370" y="4848225"/>
            <a:ext cx="40638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8"/>
              </a:lnSpc>
            </a:pPr>
            <a:r>
              <a:rPr lang="en-US" b="true" sz="2298" spc="-9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Robot Class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10370" y="5410200"/>
            <a:ext cx="406386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Define a Robot class with </a:t>
            </a:r>
            <a:r>
              <a:rPr lang="en-US" b="true" sz="1998" spc="-7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init</a:t>
            </a:r>
            <a:r>
              <a:rPr lang="en-US" sz="1998" spc="-7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taking name and battery as parameters.</a:t>
            </a:r>
          </a:p>
        </p:txBody>
      </p:sp>
      <p:grpSp>
        <p:nvGrpSpPr>
          <p:cNvPr name="Group 25" id="25"/>
          <p:cNvGrpSpPr/>
          <p:nvPr/>
        </p:nvGrpSpPr>
        <p:grpSpPr>
          <a:xfrm rot="5400000">
            <a:off x="13631778" y="2832954"/>
            <a:ext cx="4656222" cy="465622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174664" y="6286912"/>
            <a:ext cx="40638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b="true" sz="2798" spc="-11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move() Method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74664" y="6993876"/>
            <a:ext cx="406386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2098" spc="-8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Add a move() method that uses battery level to describe movement.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95436" y="8128164"/>
            <a:ext cx="406386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8"/>
              </a:lnSpc>
            </a:pPr>
            <a:r>
              <a:rPr lang="en-US" b="true" sz="2398" spc="-9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Two Robots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95436" y="8763000"/>
            <a:ext cx="406386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8"/>
              </a:lnSpc>
            </a:pPr>
            <a:r>
              <a:rPr lang="en-US" sz="2498" spc="-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Instantiate robot1 and robot2 with different names and battery values.</a:t>
            </a:r>
          </a:p>
        </p:txBody>
      </p:sp>
      <p:grpSp>
        <p:nvGrpSpPr>
          <p:cNvPr name="Group 32" id="32"/>
          <p:cNvGrpSpPr/>
          <p:nvPr/>
        </p:nvGrpSpPr>
        <p:grpSpPr>
          <a:xfrm rot="5400000">
            <a:off x="13174664" y="3263738"/>
            <a:ext cx="2472426" cy="247242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314419" y="3403493"/>
            <a:ext cx="2192916" cy="2192916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368492" y="4071326"/>
            <a:ext cx="208476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BUILD A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ROBOT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</a:t>
            </a:r>
          </a:p>
        </p:txBody>
      </p:sp>
      <p:sp>
        <p:nvSpPr>
          <p:cNvPr name="AutoShape 39" id="39"/>
          <p:cNvSpPr/>
          <p:nvPr/>
        </p:nvSpPr>
        <p:spPr>
          <a:xfrm>
            <a:off x="8431142" y="7944056"/>
            <a:ext cx="8828158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8410370" y="6177375"/>
            <a:ext cx="8828158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5606581" y="7031976"/>
            <a:ext cx="2098939" cy="2249525"/>
            <a:chOff x="0" y="0"/>
            <a:chExt cx="325181" cy="3485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5181" cy="348510"/>
            </a:xfrm>
            <a:custGeom>
              <a:avLst/>
              <a:gdLst/>
              <a:ahLst/>
              <a:cxnLst/>
              <a:rect r="r" b="b" t="t" l="l"/>
              <a:pathLst>
                <a:path h="348510" w="325181">
                  <a:moveTo>
                    <a:pt x="162590" y="0"/>
                  </a:moveTo>
                  <a:lnTo>
                    <a:pt x="162590" y="0"/>
                  </a:lnTo>
                  <a:cubicBezTo>
                    <a:pt x="252386" y="0"/>
                    <a:pt x="325181" y="72794"/>
                    <a:pt x="325181" y="162590"/>
                  </a:cubicBezTo>
                  <a:lnTo>
                    <a:pt x="325181" y="185920"/>
                  </a:lnTo>
                  <a:cubicBezTo>
                    <a:pt x="325181" y="229042"/>
                    <a:pt x="308051" y="270397"/>
                    <a:pt x="277559" y="300889"/>
                  </a:cubicBezTo>
                  <a:cubicBezTo>
                    <a:pt x="247067" y="331380"/>
                    <a:pt x="205712" y="348510"/>
                    <a:pt x="162590" y="348510"/>
                  </a:cubicBezTo>
                  <a:lnTo>
                    <a:pt x="162590" y="348510"/>
                  </a:lnTo>
                  <a:cubicBezTo>
                    <a:pt x="119469" y="348510"/>
                    <a:pt x="78113" y="331380"/>
                    <a:pt x="47622" y="300889"/>
                  </a:cubicBezTo>
                  <a:cubicBezTo>
                    <a:pt x="17130" y="270397"/>
                    <a:pt x="0" y="229042"/>
                    <a:pt x="0" y="185920"/>
                  </a:cubicBezTo>
                  <a:lnTo>
                    <a:pt x="0" y="162590"/>
                  </a:lnTo>
                  <a:cubicBezTo>
                    <a:pt x="0" y="119469"/>
                    <a:pt x="17130" y="78113"/>
                    <a:pt x="47622" y="47622"/>
                  </a:cubicBezTo>
                  <a:cubicBezTo>
                    <a:pt x="78113" y="17130"/>
                    <a:pt x="119469" y="0"/>
                    <a:pt x="1625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5" r="0" b="-43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-5400000">
            <a:off x="8437820" y="8951128"/>
            <a:ext cx="300494" cy="313849"/>
            <a:chOff x="0" y="0"/>
            <a:chExt cx="571500" cy="596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5400000">
            <a:off x="16977430" y="1979157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-547059" y="2057400"/>
            <a:ext cx="5353539" cy="7200900"/>
            <a:chOff x="0" y="0"/>
            <a:chExt cx="829403" cy="11156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9403" cy="1115608"/>
            </a:xfrm>
            <a:custGeom>
              <a:avLst/>
              <a:gdLst/>
              <a:ahLst/>
              <a:cxnLst/>
              <a:rect r="r" b="b" t="t" l="l"/>
              <a:pathLst>
                <a:path h="1115608" w="829403">
                  <a:moveTo>
                    <a:pt x="73753" y="0"/>
                  </a:moveTo>
                  <a:lnTo>
                    <a:pt x="755651" y="0"/>
                  </a:lnTo>
                  <a:cubicBezTo>
                    <a:pt x="775211" y="0"/>
                    <a:pt x="793970" y="7770"/>
                    <a:pt x="807802" y="21602"/>
                  </a:cubicBezTo>
                  <a:cubicBezTo>
                    <a:pt x="821633" y="35433"/>
                    <a:pt x="829403" y="54192"/>
                    <a:pt x="829403" y="73753"/>
                  </a:cubicBezTo>
                  <a:lnTo>
                    <a:pt x="829403" y="1041855"/>
                  </a:lnTo>
                  <a:cubicBezTo>
                    <a:pt x="829403" y="1061416"/>
                    <a:pt x="821633" y="1080175"/>
                    <a:pt x="807802" y="1094006"/>
                  </a:cubicBezTo>
                  <a:cubicBezTo>
                    <a:pt x="793970" y="1107838"/>
                    <a:pt x="775211" y="1115608"/>
                    <a:pt x="755651" y="1115608"/>
                  </a:cubicBezTo>
                  <a:lnTo>
                    <a:pt x="73753" y="1115608"/>
                  </a:lnTo>
                  <a:cubicBezTo>
                    <a:pt x="33020" y="1115608"/>
                    <a:pt x="0" y="1082588"/>
                    <a:pt x="0" y="1041855"/>
                  </a:cubicBezTo>
                  <a:lnTo>
                    <a:pt x="0" y="73753"/>
                  </a:lnTo>
                  <a:cubicBezTo>
                    <a:pt x="0" y="54192"/>
                    <a:pt x="7770" y="35433"/>
                    <a:pt x="21602" y="21602"/>
                  </a:cubicBezTo>
                  <a:cubicBezTo>
                    <a:pt x="35433" y="7770"/>
                    <a:pt x="54192" y="0"/>
                    <a:pt x="73753" y="0"/>
                  </a:cubicBezTo>
                  <a:close/>
                </a:path>
              </a:pathLst>
            </a:custGeom>
            <a:blipFill>
              <a:blip r:embed="rId7"/>
              <a:stretch>
                <a:fillRect l="-188" t="0" r="-188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606581" y="4876800"/>
            <a:ext cx="2098939" cy="2019712"/>
            <a:chOff x="0" y="0"/>
            <a:chExt cx="325181" cy="3129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5181" cy="312906"/>
            </a:xfrm>
            <a:custGeom>
              <a:avLst/>
              <a:gdLst/>
              <a:ahLst/>
              <a:cxnLst/>
              <a:rect r="r" b="b" t="t" l="l"/>
              <a:pathLst>
                <a:path h="312906" w="325181">
                  <a:moveTo>
                    <a:pt x="156453" y="0"/>
                  </a:moveTo>
                  <a:lnTo>
                    <a:pt x="168728" y="0"/>
                  </a:lnTo>
                  <a:cubicBezTo>
                    <a:pt x="255134" y="0"/>
                    <a:pt x="325181" y="70046"/>
                    <a:pt x="325181" y="156453"/>
                  </a:cubicBezTo>
                  <a:lnTo>
                    <a:pt x="325181" y="156453"/>
                  </a:lnTo>
                  <a:cubicBezTo>
                    <a:pt x="325181" y="242860"/>
                    <a:pt x="255134" y="312906"/>
                    <a:pt x="168728" y="312906"/>
                  </a:cubicBezTo>
                  <a:lnTo>
                    <a:pt x="156453" y="312906"/>
                  </a:lnTo>
                  <a:cubicBezTo>
                    <a:pt x="70046" y="312906"/>
                    <a:pt x="0" y="242860"/>
                    <a:pt x="0" y="156453"/>
                  </a:cubicBezTo>
                  <a:lnTo>
                    <a:pt x="0" y="156453"/>
                  </a:lnTo>
                  <a:cubicBezTo>
                    <a:pt x="0" y="70046"/>
                    <a:pt x="70046" y="0"/>
                    <a:pt x="156453" y="0"/>
                  </a:cubicBezTo>
                  <a:close/>
                </a:path>
              </a:pathLst>
            </a:custGeom>
            <a:blipFill>
              <a:blip r:embed="rId8"/>
              <a:stretch>
                <a:fillRect l="-445" t="0" r="-445" b="0"/>
              </a:stretch>
            </a:blip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057400" y="2083796"/>
            <a:ext cx="7174504" cy="717450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296981" y="2057400"/>
            <a:ext cx="2962319" cy="3009433"/>
            <a:chOff x="0" y="0"/>
            <a:chExt cx="458941" cy="466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8941" cy="466240"/>
            </a:xfrm>
            <a:custGeom>
              <a:avLst/>
              <a:gdLst/>
              <a:ahLst/>
              <a:cxnLst/>
              <a:rect r="r" b="b" t="t" l="l"/>
              <a:pathLst>
                <a:path h="466240" w="458941">
                  <a:moveTo>
                    <a:pt x="133287" y="0"/>
                  </a:moveTo>
                  <a:lnTo>
                    <a:pt x="325654" y="0"/>
                  </a:lnTo>
                  <a:cubicBezTo>
                    <a:pt x="399266" y="0"/>
                    <a:pt x="458941" y="59675"/>
                    <a:pt x="458941" y="133287"/>
                  </a:cubicBezTo>
                  <a:lnTo>
                    <a:pt x="458941" y="332953"/>
                  </a:lnTo>
                  <a:cubicBezTo>
                    <a:pt x="458941" y="368303"/>
                    <a:pt x="444898" y="402205"/>
                    <a:pt x="419902" y="427201"/>
                  </a:cubicBezTo>
                  <a:cubicBezTo>
                    <a:pt x="394906" y="452197"/>
                    <a:pt x="361004" y="466240"/>
                    <a:pt x="325654" y="466240"/>
                  </a:cubicBezTo>
                  <a:lnTo>
                    <a:pt x="133287" y="466240"/>
                  </a:lnTo>
                  <a:cubicBezTo>
                    <a:pt x="97937" y="466240"/>
                    <a:pt x="64035" y="452197"/>
                    <a:pt x="39039" y="427201"/>
                  </a:cubicBezTo>
                  <a:cubicBezTo>
                    <a:pt x="14043" y="402205"/>
                    <a:pt x="0" y="368303"/>
                    <a:pt x="0" y="332953"/>
                  </a:cubicBezTo>
                  <a:lnTo>
                    <a:pt x="0" y="133287"/>
                  </a:lnTo>
                  <a:cubicBezTo>
                    <a:pt x="0" y="97937"/>
                    <a:pt x="14043" y="64035"/>
                    <a:pt x="39039" y="39039"/>
                  </a:cubicBezTo>
                  <a:cubicBezTo>
                    <a:pt x="64035" y="14043"/>
                    <a:pt x="97937" y="0"/>
                    <a:pt x="1332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0" r="0" b="-3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3743589" y="5742589"/>
            <a:ext cx="4544411" cy="45444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13756" y="4482927"/>
            <a:ext cx="4774018" cy="1853613"/>
            <a:chOff x="0" y="0"/>
            <a:chExt cx="1257355" cy="4881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7355" cy="488194"/>
            </a:xfrm>
            <a:custGeom>
              <a:avLst/>
              <a:gdLst/>
              <a:ahLst/>
              <a:cxnLst/>
              <a:rect r="r" b="b" t="t" l="l"/>
              <a:pathLst>
                <a:path h="488194" w="1257355">
                  <a:moveTo>
                    <a:pt x="48650" y="0"/>
                  </a:moveTo>
                  <a:lnTo>
                    <a:pt x="1208704" y="0"/>
                  </a:lnTo>
                  <a:cubicBezTo>
                    <a:pt x="1235573" y="0"/>
                    <a:pt x="1257355" y="21781"/>
                    <a:pt x="1257355" y="48650"/>
                  </a:cubicBezTo>
                  <a:lnTo>
                    <a:pt x="1257355" y="439544"/>
                  </a:lnTo>
                  <a:cubicBezTo>
                    <a:pt x="1257355" y="466413"/>
                    <a:pt x="1235573" y="488194"/>
                    <a:pt x="1208704" y="488194"/>
                  </a:cubicBezTo>
                  <a:lnTo>
                    <a:pt x="48650" y="488194"/>
                  </a:lnTo>
                  <a:cubicBezTo>
                    <a:pt x="21781" y="488194"/>
                    <a:pt x="0" y="466413"/>
                    <a:pt x="0" y="439544"/>
                  </a:cubicBezTo>
                  <a:lnTo>
                    <a:pt x="0" y="48650"/>
                  </a:lnTo>
                  <a:cubicBezTo>
                    <a:pt x="0" y="21781"/>
                    <a:pt x="21781" y="0"/>
                    <a:pt x="48650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57355" cy="526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2963" y="7095281"/>
            <a:ext cx="4774018" cy="1853613"/>
            <a:chOff x="0" y="0"/>
            <a:chExt cx="1257355" cy="4881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7355" cy="488194"/>
            </a:xfrm>
            <a:custGeom>
              <a:avLst/>
              <a:gdLst/>
              <a:ahLst/>
              <a:cxnLst/>
              <a:rect r="r" b="b" t="t" l="l"/>
              <a:pathLst>
                <a:path h="488194" w="1257355">
                  <a:moveTo>
                    <a:pt x="48650" y="0"/>
                  </a:moveTo>
                  <a:lnTo>
                    <a:pt x="1208704" y="0"/>
                  </a:lnTo>
                  <a:cubicBezTo>
                    <a:pt x="1235573" y="0"/>
                    <a:pt x="1257355" y="21781"/>
                    <a:pt x="1257355" y="48650"/>
                  </a:cubicBezTo>
                  <a:lnTo>
                    <a:pt x="1257355" y="439544"/>
                  </a:lnTo>
                  <a:cubicBezTo>
                    <a:pt x="1257355" y="466413"/>
                    <a:pt x="1235573" y="488194"/>
                    <a:pt x="1208704" y="488194"/>
                  </a:cubicBezTo>
                  <a:lnTo>
                    <a:pt x="48650" y="488194"/>
                  </a:lnTo>
                  <a:cubicBezTo>
                    <a:pt x="21781" y="488194"/>
                    <a:pt x="0" y="466413"/>
                    <a:pt x="0" y="439544"/>
                  </a:cubicBezTo>
                  <a:lnTo>
                    <a:pt x="0" y="48650"/>
                  </a:lnTo>
                  <a:cubicBezTo>
                    <a:pt x="0" y="21781"/>
                    <a:pt x="21781" y="0"/>
                    <a:pt x="48650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57355" cy="526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4183045"/>
            <a:ext cx="6442825" cy="5075255"/>
            <a:chOff x="0" y="0"/>
            <a:chExt cx="998162" cy="7862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8162" cy="786290"/>
            </a:xfrm>
            <a:custGeom>
              <a:avLst/>
              <a:gdLst/>
              <a:ahLst/>
              <a:cxnLst/>
              <a:rect r="r" b="b" t="t" l="l"/>
              <a:pathLst>
                <a:path h="786290" w="998162">
                  <a:moveTo>
                    <a:pt x="61283" y="0"/>
                  </a:moveTo>
                  <a:lnTo>
                    <a:pt x="936879" y="0"/>
                  </a:lnTo>
                  <a:cubicBezTo>
                    <a:pt x="970725" y="0"/>
                    <a:pt x="998162" y="27437"/>
                    <a:pt x="998162" y="61283"/>
                  </a:cubicBezTo>
                  <a:lnTo>
                    <a:pt x="998162" y="725006"/>
                  </a:lnTo>
                  <a:cubicBezTo>
                    <a:pt x="998162" y="741260"/>
                    <a:pt x="991706" y="756847"/>
                    <a:pt x="980213" y="768340"/>
                  </a:cubicBezTo>
                  <a:cubicBezTo>
                    <a:pt x="968720" y="779833"/>
                    <a:pt x="953132" y="786290"/>
                    <a:pt x="936879" y="786290"/>
                  </a:cubicBezTo>
                  <a:lnTo>
                    <a:pt x="61283" y="786290"/>
                  </a:lnTo>
                  <a:cubicBezTo>
                    <a:pt x="45030" y="786290"/>
                    <a:pt x="29442" y="779833"/>
                    <a:pt x="17949" y="768340"/>
                  </a:cubicBezTo>
                  <a:cubicBezTo>
                    <a:pt x="6457" y="756847"/>
                    <a:pt x="0" y="741260"/>
                    <a:pt x="0" y="725006"/>
                  </a:cubicBezTo>
                  <a:lnTo>
                    <a:pt x="0" y="61283"/>
                  </a:lnTo>
                  <a:cubicBezTo>
                    <a:pt x="0" y="45030"/>
                    <a:pt x="6457" y="29442"/>
                    <a:pt x="17949" y="17949"/>
                  </a:cubicBezTo>
                  <a:cubicBezTo>
                    <a:pt x="29442" y="6457"/>
                    <a:pt x="45030" y="0"/>
                    <a:pt x="61283" y="0"/>
                  </a:cubicBezTo>
                  <a:close/>
                </a:path>
              </a:pathLst>
            </a:custGeom>
            <a:blipFill>
              <a:blip r:embed="rId5"/>
              <a:stretch>
                <a:fillRect l="-495" t="0" r="-49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5400000">
            <a:off x="8132169" y="4173520"/>
            <a:ext cx="2472426" cy="247242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71924" y="4313275"/>
            <a:ext cx="2192916" cy="219291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6741376" y="6785874"/>
            <a:ext cx="2472426" cy="247242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81131" y="6925629"/>
            <a:ext cx="2192916" cy="219291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134382" y="6785874"/>
            <a:ext cx="2124918" cy="2472426"/>
            <a:chOff x="0" y="0"/>
            <a:chExt cx="329205" cy="3830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205" cy="383043"/>
            </a:xfrm>
            <a:custGeom>
              <a:avLst/>
              <a:gdLst/>
              <a:ahLst/>
              <a:cxnLst/>
              <a:rect r="r" b="b" t="t" l="l"/>
              <a:pathLst>
                <a:path h="383043" w="329205">
                  <a:moveTo>
                    <a:pt x="164603" y="0"/>
                  </a:moveTo>
                  <a:lnTo>
                    <a:pt x="164603" y="0"/>
                  </a:lnTo>
                  <a:cubicBezTo>
                    <a:pt x="255510" y="0"/>
                    <a:pt x="329205" y="73695"/>
                    <a:pt x="329205" y="164603"/>
                  </a:cubicBezTo>
                  <a:lnTo>
                    <a:pt x="329205" y="218441"/>
                  </a:lnTo>
                  <a:cubicBezTo>
                    <a:pt x="329205" y="309348"/>
                    <a:pt x="255510" y="383043"/>
                    <a:pt x="164603" y="383043"/>
                  </a:cubicBezTo>
                  <a:lnTo>
                    <a:pt x="164603" y="383043"/>
                  </a:lnTo>
                  <a:cubicBezTo>
                    <a:pt x="73695" y="383043"/>
                    <a:pt x="0" y="309348"/>
                    <a:pt x="0" y="218441"/>
                  </a:cubicBezTo>
                  <a:lnTo>
                    <a:pt x="0" y="164603"/>
                  </a:lnTo>
                  <a:cubicBezTo>
                    <a:pt x="0" y="73695"/>
                    <a:pt x="73695" y="0"/>
                    <a:pt x="16460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86" r="0" b="-18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-5400000">
            <a:off x="13436417" y="3257205"/>
            <a:ext cx="300494" cy="313849"/>
            <a:chOff x="0" y="0"/>
            <a:chExt cx="571500" cy="5969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5400000">
            <a:off x="7189655" y="3545789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8" y="0"/>
                </a:lnTo>
                <a:lnTo>
                  <a:pt x="203628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6" id="46"/>
          <p:cNvSpPr/>
          <p:nvPr/>
        </p:nvSpPr>
        <p:spPr>
          <a:xfrm>
            <a:off x="1028700" y="3263883"/>
            <a:ext cx="6404725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1028700" y="3563920"/>
            <a:ext cx="429618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CONCEPTUAL BRIDGE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742113" y="657054"/>
            <a:ext cx="813226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78436" y="657054"/>
            <a:ext cx="751945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b="true" sz="1399" spc="-5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67106" y="657054"/>
            <a:ext cx="928073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86033" y="657054"/>
            <a:ext cx="923532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31904" y="657054"/>
            <a:ext cx="917404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0600" y="2067834"/>
            <a:ext cx="13306381" cy="105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7"/>
              </a:lnSpc>
            </a:pPr>
            <a:r>
              <a:rPr lang="en-US" sz="8397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OOP → Agentic AI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409564" y="4752508"/>
            <a:ext cx="366723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2198" spc="-8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Class is the agent blueprint. An Object is an individual agent instance. Each agent holds its own state and capabilities.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19430" y="7226971"/>
            <a:ext cx="366723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2198" spc="-8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Attributes store the agent's state (memory, goals). Methods define what the agent can do — search, plan, act, summarize.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528318" y="5114458"/>
            <a:ext cx="168012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 → Blueprint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028424" y="7726812"/>
            <a:ext cx="189832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Attributes → State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9233124" y="2051914"/>
            <a:ext cx="2185177" cy="218517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56642" y="2175432"/>
            <a:ext cx="1938141" cy="19381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0325712" y="4562518"/>
            <a:ext cx="2185177" cy="218517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49230" y="4686037"/>
            <a:ext cx="1938141" cy="19381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1485602" y="7073123"/>
            <a:ext cx="2185177" cy="218517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09120" y="7196641"/>
            <a:ext cx="1938141" cy="193814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5400000">
            <a:off x="-1578325" y="5388407"/>
            <a:ext cx="6351605" cy="635160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028703" y="9237274"/>
            <a:ext cx="7489157" cy="0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5400000">
            <a:off x="14223229" y="3383828"/>
            <a:ext cx="6480699" cy="648069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954260" y="2057400"/>
            <a:ext cx="300494" cy="313849"/>
            <a:chOff x="0" y="0"/>
            <a:chExt cx="571500" cy="596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5400000">
            <a:off x="8235990" y="2013733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7" y="0"/>
                </a:lnTo>
                <a:lnTo>
                  <a:pt x="203627" y="360113"/>
                </a:lnTo>
                <a:lnTo>
                  <a:pt x="0" y="360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028700" y="4931985"/>
            <a:ext cx="3744580" cy="3604770"/>
            <a:chOff x="0" y="0"/>
            <a:chExt cx="580133" cy="5584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0133" cy="558473"/>
            </a:xfrm>
            <a:custGeom>
              <a:avLst/>
              <a:gdLst/>
              <a:ahLst/>
              <a:cxnLst/>
              <a:rect r="r" b="b" t="t" l="l"/>
              <a:pathLst>
                <a:path h="558473" w="580133">
                  <a:moveTo>
                    <a:pt x="105443" y="0"/>
                  </a:moveTo>
                  <a:lnTo>
                    <a:pt x="474691" y="0"/>
                  </a:lnTo>
                  <a:cubicBezTo>
                    <a:pt x="532925" y="0"/>
                    <a:pt x="580133" y="47208"/>
                    <a:pt x="580133" y="105443"/>
                  </a:cubicBezTo>
                  <a:lnTo>
                    <a:pt x="580133" y="453031"/>
                  </a:lnTo>
                  <a:cubicBezTo>
                    <a:pt x="580133" y="511265"/>
                    <a:pt x="532925" y="558473"/>
                    <a:pt x="474691" y="558473"/>
                  </a:cubicBezTo>
                  <a:lnTo>
                    <a:pt x="105443" y="558473"/>
                  </a:lnTo>
                  <a:cubicBezTo>
                    <a:pt x="47208" y="558473"/>
                    <a:pt x="0" y="511265"/>
                    <a:pt x="0" y="453031"/>
                  </a:cubicBezTo>
                  <a:lnTo>
                    <a:pt x="0" y="105443"/>
                  </a:lnTo>
                  <a:cubicBezTo>
                    <a:pt x="0" y="47208"/>
                    <a:pt x="47208" y="0"/>
                    <a:pt x="105443" y="0"/>
                  </a:cubicBezTo>
                  <a:close/>
                </a:path>
              </a:pathLst>
            </a:custGeom>
            <a:blipFill>
              <a:blip r:embed="rId6"/>
              <a:stretch>
                <a:fillRect l="-467" t="0" r="-467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773280" y="4958637"/>
            <a:ext cx="3744580" cy="3604770"/>
            <a:chOff x="0" y="0"/>
            <a:chExt cx="580133" cy="55847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0133" cy="558473"/>
            </a:xfrm>
            <a:custGeom>
              <a:avLst/>
              <a:gdLst/>
              <a:ahLst/>
              <a:cxnLst/>
              <a:rect r="r" b="b" t="t" l="l"/>
              <a:pathLst>
                <a:path h="558473" w="580133">
                  <a:moveTo>
                    <a:pt x="105443" y="0"/>
                  </a:moveTo>
                  <a:lnTo>
                    <a:pt x="474691" y="0"/>
                  </a:lnTo>
                  <a:cubicBezTo>
                    <a:pt x="532925" y="0"/>
                    <a:pt x="580133" y="47208"/>
                    <a:pt x="580133" y="105443"/>
                  </a:cubicBezTo>
                  <a:lnTo>
                    <a:pt x="580133" y="453031"/>
                  </a:lnTo>
                  <a:cubicBezTo>
                    <a:pt x="580133" y="511265"/>
                    <a:pt x="532925" y="558473"/>
                    <a:pt x="474691" y="558473"/>
                  </a:cubicBezTo>
                  <a:lnTo>
                    <a:pt x="105443" y="558473"/>
                  </a:lnTo>
                  <a:cubicBezTo>
                    <a:pt x="47208" y="558473"/>
                    <a:pt x="0" y="511265"/>
                    <a:pt x="0" y="453031"/>
                  </a:cubicBezTo>
                  <a:lnTo>
                    <a:pt x="0" y="105443"/>
                  </a:lnTo>
                  <a:cubicBezTo>
                    <a:pt x="0" y="47208"/>
                    <a:pt x="47208" y="0"/>
                    <a:pt x="105443" y="0"/>
                  </a:cubicBezTo>
                  <a:close/>
                </a:path>
              </a:pathLst>
            </a:custGeom>
            <a:blipFill>
              <a:blip r:embed="rId7"/>
              <a:stretch>
                <a:fillRect l="-467" t="0" r="-467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708745" y="4686037"/>
            <a:ext cx="3404106" cy="1938141"/>
            <a:chOff x="0" y="0"/>
            <a:chExt cx="896555" cy="5104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6555" cy="510457"/>
            </a:xfrm>
            <a:custGeom>
              <a:avLst/>
              <a:gdLst/>
              <a:ahLst/>
              <a:cxnLst/>
              <a:rect r="r" b="b" t="t" l="l"/>
              <a:pathLst>
                <a:path h="510457" w="896555">
                  <a:moveTo>
                    <a:pt x="68229" y="0"/>
                  </a:moveTo>
                  <a:lnTo>
                    <a:pt x="828326" y="0"/>
                  </a:lnTo>
                  <a:cubicBezTo>
                    <a:pt x="846421" y="0"/>
                    <a:pt x="863775" y="7188"/>
                    <a:pt x="876571" y="19984"/>
                  </a:cubicBezTo>
                  <a:cubicBezTo>
                    <a:pt x="889366" y="32779"/>
                    <a:pt x="896555" y="50133"/>
                    <a:pt x="896555" y="68229"/>
                  </a:cubicBezTo>
                  <a:lnTo>
                    <a:pt x="896555" y="442228"/>
                  </a:lnTo>
                  <a:cubicBezTo>
                    <a:pt x="896555" y="460324"/>
                    <a:pt x="889366" y="477678"/>
                    <a:pt x="876571" y="490473"/>
                  </a:cubicBezTo>
                  <a:cubicBezTo>
                    <a:pt x="863775" y="503269"/>
                    <a:pt x="846421" y="510457"/>
                    <a:pt x="828326" y="510457"/>
                  </a:cubicBezTo>
                  <a:lnTo>
                    <a:pt x="68229" y="510457"/>
                  </a:lnTo>
                  <a:cubicBezTo>
                    <a:pt x="50133" y="510457"/>
                    <a:pt x="32779" y="503269"/>
                    <a:pt x="19984" y="490473"/>
                  </a:cubicBezTo>
                  <a:cubicBezTo>
                    <a:pt x="7188" y="477678"/>
                    <a:pt x="0" y="460324"/>
                    <a:pt x="0" y="442228"/>
                  </a:cubicBezTo>
                  <a:lnTo>
                    <a:pt x="0" y="68229"/>
                  </a:lnTo>
                  <a:cubicBezTo>
                    <a:pt x="0" y="50133"/>
                    <a:pt x="7188" y="32779"/>
                    <a:pt x="19984" y="19984"/>
                  </a:cubicBezTo>
                  <a:cubicBezTo>
                    <a:pt x="32779" y="7188"/>
                    <a:pt x="50133" y="0"/>
                    <a:pt x="68229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96555" cy="548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100175" y="4826432"/>
            <a:ext cx="2621245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sz="1798" spc="-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agent.create_quiz(topic) generates practice questions on any topic. Each call produces a fresh quiz to test the student's understanding.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850648" y="7195678"/>
            <a:ext cx="3404106" cy="1938141"/>
            <a:chOff x="0" y="0"/>
            <a:chExt cx="896555" cy="5104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555" cy="510457"/>
            </a:xfrm>
            <a:custGeom>
              <a:avLst/>
              <a:gdLst/>
              <a:ahLst/>
              <a:cxnLst/>
              <a:rect r="r" b="b" t="t" l="l"/>
              <a:pathLst>
                <a:path h="510457" w="896555">
                  <a:moveTo>
                    <a:pt x="68229" y="0"/>
                  </a:moveTo>
                  <a:lnTo>
                    <a:pt x="828326" y="0"/>
                  </a:lnTo>
                  <a:cubicBezTo>
                    <a:pt x="846421" y="0"/>
                    <a:pt x="863775" y="7188"/>
                    <a:pt x="876571" y="19984"/>
                  </a:cubicBezTo>
                  <a:cubicBezTo>
                    <a:pt x="889366" y="32779"/>
                    <a:pt x="896555" y="50133"/>
                    <a:pt x="896555" y="68229"/>
                  </a:cubicBezTo>
                  <a:lnTo>
                    <a:pt x="896555" y="442228"/>
                  </a:lnTo>
                  <a:cubicBezTo>
                    <a:pt x="896555" y="460324"/>
                    <a:pt x="889366" y="477678"/>
                    <a:pt x="876571" y="490473"/>
                  </a:cubicBezTo>
                  <a:cubicBezTo>
                    <a:pt x="863775" y="503269"/>
                    <a:pt x="846421" y="510457"/>
                    <a:pt x="828326" y="510457"/>
                  </a:cubicBezTo>
                  <a:lnTo>
                    <a:pt x="68229" y="510457"/>
                  </a:lnTo>
                  <a:cubicBezTo>
                    <a:pt x="50133" y="510457"/>
                    <a:pt x="32779" y="503269"/>
                    <a:pt x="19984" y="490473"/>
                  </a:cubicBezTo>
                  <a:cubicBezTo>
                    <a:pt x="7188" y="477678"/>
                    <a:pt x="0" y="460324"/>
                    <a:pt x="0" y="442228"/>
                  </a:cubicBezTo>
                  <a:lnTo>
                    <a:pt x="0" y="68229"/>
                  </a:lnTo>
                  <a:cubicBezTo>
                    <a:pt x="0" y="50133"/>
                    <a:pt x="7188" y="32779"/>
                    <a:pt x="19984" y="19984"/>
                  </a:cubicBezTo>
                  <a:cubicBezTo>
                    <a:pt x="32779" y="7188"/>
                    <a:pt x="50133" y="0"/>
                    <a:pt x="68229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96555" cy="548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117222" y="7278923"/>
            <a:ext cx="2987285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8"/>
              </a:lnSpc>
            </a:pPr>
            <a:r>
              <a:rPr lang="en-US" sz="1898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agent.summarize(text) condenses long content into key points. The agent processes any text and returns a concise, student-friendly summary.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33124" y="8403836"/>
            <a:ext cx="163095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AGENT = STUDYAGENT("STUDYBOT")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742113" y="657054"/>
            <a:ext cx="813226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78436" y="657054"/>
            <a:ext cx="751945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b="true" sz="1399" spc="-5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967106" y="657054"/>
            <a:ext cx="928073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486033" y="657054"/>
            <a:ext cx="923532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31904" y="657054"/>
            <a:ext cx="917404" cy="2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55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2082451"/>
            <a:ext cx="7129047" cy="247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5"/>
              </a:lnSpc>
            </a:pPr>
            <a:r>
              <a:rPr lang="en-US" sz="10361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Study</a:t>
            </a:r>
          </a:p>
          <a:p>
            <a:pPr algn="l" marL="0" indent="0" lvl="0">
              <a:lnSpc>
                <a:spcPts val="9325"/>
              </a:lnSpc>
            </a:pPr>
            <a:r>
              <a:rPr lang="en-US" sz="10361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Agent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1598170" y="2175432"/>
            <a:ext cx="3404106" cy="1938141"/>
            <a:chOff x="0" y="0"/>
            <a:chExt cx="896555" cy="51045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555" cy="510457"/>
            </a:xfrm>
            <a:custGeom>
              <a:avLst/>
              <a:gdLst/>
              <a:ahLst/>
              <a:cxnLst/>
              <a:rect r="r" b="b" t="t" l="l"/>
              <a:pathLst>
                <a:path h="510457" w="896555">
                  <a:moveTo>
                    <a:pt x="68229" y="0"/>
                  </a:moveTo>
                  <a:lnTo>
                    <a:pt x="828326" y="0"/>
                  </a:lnTo>
                  <a:cubicBezTo>
                    <a:pt x="846421" y="0"/>
                    <a:pt x="863775" y="7188"/>
                    <a:pt x="876571" y="19984"/>
                  </a:cubicBezTo>
                  <a:cubicBezTo>
                    <a:pt x="889366" y="32779"/>
                    <a:pt x="896555" y="50133"/>
                    <a:pt x="896555" y="68229"/>
                  </a:cubicBezTo>
                  <a:lnTo>
                    <a:pt x="896555" y="442228"/>
                  </a:lnTo>
                  <a:cubicBezTo>
                    <a:pt x="896555" y="460324"/>
                    <a:pt x="889366" y="477678"/>
                    <a:pt x="876571" y="490473"/>
                  </a:cubicBezTo>
                  <a:cubicBezTo>
                    <a:pt x="863775" y="503269"/>
                    <a:pt x="846421" y="510457"/>
                    <a:pt x="828326" y="510457"/>
                  </a:cubicBezTo>
                  <a:lnTo>
                    <a:pt x="68229" y="510457"/>
                  </a:lnTo>
                  <a:cubicBezTo>
                    <a:pt x="50133" y="510457"/>
                    <a:pt x="32779" y="503269"/>
                    <a:pt x="19984" y="490473"/>
                  </a:cubicBezTo>
                  <a:cubicBezTo>
                    <a:pt x="7188" y="477678"/>
                    <a:pt x="0" y="460324"/>
                    <a:pt x="0" y="442228"/>
                  </a:cubicBezTo>
                  <a:lnTo>
                    <a:pt x="0" y="68229"/>
                  </a:lnTo>
                  <a:cubicBezTo>
                    <a:pt x="0" y="50133"/>
                    <a:pt x="7188" y="32779"/>
                    <a:pt x="19984" y="19984"/>
                  </a:cubicBezTo>
                  <a:cubicBezTo>
                    <a:pt x="32779" y="7188"/>
                    <a:pt x="50133" y="0"/>
                    <a:pt x="68229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96555" cy="548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789553" y="2355128"/>
            <a:ext cx="3212723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8"/>
              </a:lnSpc>
            </a:pPr>
            <a:r>
              <a:rPr lang="en-US" sz="1898" spc="-7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agent.search_topic(topic) lets the agent look up any subject. The method receives a topic string and retrieves relevant information for the student.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50691" y="2849228"/>
            <a:ext cx="135004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Search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Topic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504324" y="5359832"/>
            <a:ext cx="181048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Create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Quiz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609120" y="7870436"/>
            <a:ext cx="193814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Summarize</a:t>
            </a:r>
          </a:p>
          <a:p>
            <a:pPr algn="ctr" marL="0" indent="0" lvl="0">
              <a:lnSpc>
                <a:spcPts val="2158"/>
              </a:lnSpc>
            </a:pPr>
            <a:r>
              <a:rPr lang="en-US" b="true" sz="1798" spc="-7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Text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2464" y="611864"/>
            <a:ext cx="416836" cy="4168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54260" y="755908"/>
            <a:ext cx="193244" cy="128749"/>
          </a:xfrm>
          <a:custGeom>
            <a:avLst/>
            <a:gdLst/>
            <a:ahLst/>
            <a:cxnLst/>
            <a:rect r="r" b="b" t="t" l="l"/>
            <a:pathLst>
              <a:path h="128749" w="193244">
                <a:moveTo>
                  <a:pt x="0" y="0"/>
                </a:moveTo>
                <a:lnTo>
                  <a:pt x="193244" y="0"/>
                </a:lnTo>
                <a:lnTo>
                  <a:pt x="193244" y="128749"/>
                </a:lnTo>
                <a:lnTo>
                  <a:pt x="0" y="12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-2120585" y="2770168"/>
            <a:ext cx="6488132" cy="648813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028700" y="2057400"/>
            <a:ext cx="2472426" cy="247242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8455" y="2197155"/>
            <a:ext cx="2192916" cy="219291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3901403" y="2770168"/>
            <a:ext cx="6488132" cy="648813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4787273" y="2057400"/>
            <a:ext cx="2472426" cy="247242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927028" y="2197155"/>
            <a:ext cx="2192916" cy="219291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6824185"/>
            <a:ext cx="2472426" cy="2434115"/>
            <a:chOff x="0" y="0"/>
            <a:chExt cx="383043" cy="3771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3043" cy="377108"/>
            </a:xfrm>
            <a:custGeom>
              <a:avLst/>
              <a:gdLst/>
              <a:ahLst/>
              <a:cxnLst/>
              <a:rect r="r" b="b" t="t" l="l"/>
              <a:pathLst>
                <a:path h="377108" w="383043">
                  <a:moveTo>
                    <a:pt x="159697" y="0"/>
                  </a:moveTo>
                  <a:lnTo>
                    <a:pt x="223347" y="0"/>
                  </a:lnTo>
                  <a:cubicBezTo>
                    <a:pt x="265701" y="0"/>
                    <a:pt x="306320" y="16825"/>
                    <a:pt x="336269" y="46774"/>
                  </a:cubicBezTo>
                  <a:cubicBezTo>
                    <a:pt x="366218" y="76723"/>
                    <a:pt x="383043" y="117342"/>
                    <a:pt x="383043" y="159697"/>
                  </a:cubicBezTo>
                  <a:lnTo>
                    <a:pt x="383043" y="217411"/>
                  </a:lnTo>
                  <a:cubicBezTo>
                    <a:pt x="383043" y="305609"/>
                    <a:pt x="311545" y="377108"/>
                    <a:pt x="223347" y="377108"/>
                  </a:cubicBezTo>
                  <a:lnTo>
                    <a:pt x="159697" y="377108"/>
                  </a:lnTo>
                  <a:cubicBezTo>
                    <a:pt x="117342" y="377108"/>
                    <a:pt x="76723" y="360283"/>
                    <a:pt x="46774" y="330334"/>
                  </a:cubicBezTo>
                  <a:cubicBezTo>
                    <a:pt x="16825" y="300385"/>
                    <a:pt x="0" y="259766"/>
                    <a:pt x="0" y="217411"/>
                  </a:cubicBezTo>
                  <a:lnTo>
                    <a:pt x="0" y="159697"/>
                  </a:lnTo>
                  <a:cubicBezTo>
                    <a:pt x="0" y="117342"/>
                    <a:pt x="16825" y="76723"/>
                    <a:pt x="46774" y="46774"/>
                  </a:cubicBezTo>
                  <a:cubicBezTo>
                    <a:pt x="76723" y="16825"/>
                    <a:pt x="117342" y="0"/>
                    <a:pt x="159697" y="0"/>
                  </a:cubicBezTo>
                  <a:close/>
                </a:path>
              </a:pathLst>
            </a:custGeom>
            <a:blipFill>
              <a:blip r:embed="rId4"/>
              <a:stretch>
                <a:fillRect l="-38" t="0" r="-38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2264913" y="4908436"/>
            <a:ext cx="2555289" cy="255528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409352" y="5052875"/>
            <a:ext cx="2266411" cy="226641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787736" y="6824185"/>
            <a:ext cx="2472426" cy="2434115"/>
            <a:chOff x="0" y="0"/>
            <a:chExt cx="383043" cy="3771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3043" cy="377108"/>
            </a:xfrm>
            <a:custGeom>
              <a:avLst/>
              <a:gdLst/>
              <a:ahLst/>
              <a:cxnLst/>
              <a:rect r="r" b="b" t="t" l="l"/>
              <a:pathLst>
                <a:path h="377108" w="383043">
                  <a:moveTo>
                    <a:pt x="159697" y="0"/>
                  </a:moveTo>
                  <a:lnTo>
                    <a:pt x="223347" y="0"/>
                  </a:lnTo>
                  <a:cubicBezTo>
                    <a:pt x="265701" y="0"/>
                    <a:pt x="306320" y="16825"/>
                    <a:pt x="336269" y="46774"/>
                  </a:cubicBezTo>
                  <a:cubicBezTo>
                    <a:pt x="366218" y="76723"/>
                    <a:pt x="383043" y="117342"/>
                    <a:pt x="383043" y="159697"/>
                  </a:cubicBezTo>
                  <a:lnTo>
                    <a:pt x="383043" y="217411"/>
                  </a:lnTo>
                  <a:cubicBezTo>
                    <a:pt x="383043" y="305609"/>
                    <a:pt x="311545" y="377108"/>
                    <a:pt x="223347" y="377108"/>
                  </a:cubicBezTo>
                  <a:lnTo>
                    <a:pt x="159697" y="377108"/>
                  </a:lnTo>
                  <a:cubicBezTo>
                    <a:pt x="117342" y="377108"/>
                    <a:pt x="76723" y="360283"/>
                    <a:pt x="46774" y="330334"/>
                  </a:cubicBezTo>
                  <a:cubicBezTo>
                    <a:pt x="16825" y="300385"/>
                    <a:pt x="0" y="259766"/>
                    <a:pt x="0" y="217411"/>
                  </a:cubicBezTo>
                  <a:lnTo>
                    <a:pt x="0" y="159697"/>
                  </a:lnTo>
                  <a:cubicBezTo>
                    <a:pt x="0" y="117342"/>
                    <a:pt x="16825" y="76723"/>
                    <a:pt x="46774" y="46774"/>
                  </a:cubicBezTo>
                  <a:cubicBezTo>
                    <a:pt x="76723" y="16825"/>
                    <a:pt x="117342" y="0"/>
                    <a:pt x="159697" y="0"/>
                  </a:cubicBezTo>
                  <a:close/>
                </a:path>
              </a:pathLst>
            </a:custGeom>
            <a:blipFill>
              <a:blip r:embed="rId5"/>
              <a:stretch>
                <a:fillRect l="-38" t="0" r="-38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5400000">
            <a:off x="13468197" y="4923668"/>
            <a:ext cx="2555289" cy="2555289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12636" y="5068107"/>
            <a:ext cx="2266411" cy="226641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52864" y="4390071"/>
            <a:ext cx="7782272" cy="4868229"/>
            <a:chOff x="0" y="0"/>
            <a:chExt cx="2049652" cy="12821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49652" cy="1282167"/>
            </a:xfrm>
            <a:custGeom>
              <a:avLst/>
              <a:gdLst/>
              <a:ahLst/>
              <a:cxnLst/>
              <a:rect r="r" b="b" t="t" l="l"/>
              <a:pathLst>
                <a:path h="1282167" w="2049652">
                  <a:moveTo>
                    <a:pt x="29844" y="0"/>
                  </a:moveTo>
                  <a:lnTo>
                    <a:pt x="2019808" y="0"/>
                  </a:lnTo>
                  <a:cubicBezTo>
                    <a:pt x="2027723" y="0"/>
                    <a:pt x="2035314" y="3144"/>
                    <a:pt x="2040911" y="8741"/>
                  </a:cubicBezTo>
                  <a:cubicBezTo>
                    <a:pt x="2046508" y="14338"/>
                    <a:pt x="2049652" y="21929"/>
                    <a:pt x="2049652" y="29844"/>
                  </a:cubicBezTo>
                  <a:lnTo>
                    <a:pt x="2049652" y="1252323"/>
                  </a:lnTo>
                  <a:cubicBezTo>
                    <a:pt x="2049652" y="1268806"/>
                    <a:pt x="2036290" y="1282167"/>
                    <a:pt x="2019808" y="1282167"/>
                  </a:cubicBezTo>
                  <a:lnTo>
                    <a:pt x="29844" y="1282167"/>
                  </a:lnTo>
                  <a:cubicBezTo>
                    <a:pt x="13362" y="1282167"/>
                    <a:pt x="0" y="1268806"/>
                    <a:pt x="0" y="1252323"/>
                  </a:cubicBezTo>
                  <a:lnTo>
                    <a:pt x="0" y="29844"/>
                  </a:lnTo>
                  <a:cubicBezTo>
                    <a:pt x="0" y="13362"/>
                    <a:pt x="13362" y="0"/>
                    <a:pt x="29844" y="0"/>
                  </a:cubicBezTo>
                  <a:close/>
                </a:path>
              </a:pathLst>
            </a:custGeom>
            <a:solidFill>
              <a:srgbClr val="003D48"/>
            </a:solidFill>
            <a:ln w="9525" cap="rnd">
              <a:solidFill>
                <a:srgbClr val="218395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49652" cy="132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692528" y="4908436"/>
            <a:ext cx="6902944" cy="3500592"/>
            <a:chOff x="0" y="0"/>
            <a:chExt cx="1069447" cy="5423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9447" cy="542333"/>
            </a:xfrm>
            <a:custGeom>
              <a:avLst/>
              <a:gdLst/>
              <a:ahLst/>
              <a:cxnLst/>
              <a:rect r="r" b="b" t="t" l="l"/>
              <a:pathLst>
                <a:path h="542333" w="1069447">
                  <a:moveTo>
                    <a:pt x="57198" y="0"/>
                  </a:moveTo>
                  <a:lnTo>
                    <a:pt x="1012248" y="0"/>
                  </a:lnTo>
                  <a:cubicBezTo>
                    <a:pt x="1027418" y="0"/>
                    <a:pt x="1041967" y="6026"/>
                    <a:pt x="1052694" y="16753"/>
                  </a:cubicBezTo>
                  <a:cubicBezTo>
                    <a:pt x="1063420" y="27480"/>
                    <a:pt x="1069447" y="42028"/>
                    <a:pt x="1069447" y="57198"/>
                  </a:cubicBezTo>
                  <a:lnTo>
                    <a:pt x="1069447" y="485135"/>
                  </a:lnTo>
                  <a:cubicBezTo>
                    <a:pt x="1069447" y="500305"/>
                    <a:pt x="1063420" y="514853"/>
                    <a:pt x="1052694" y="525580"/>
                  </a:cubicBezTo>
                  <a:cubicBezTo>
                    <a:pt x="1041967" y="536307"/>
                    <a:pt x="1027418" y="542333"/>
                    <a:pt x="1012248" y="542333"/>
                  </a:cubicBezTo>
                  <a:lnTo>
                    <a:pt x="57198" y="542333"/>
                  </a:lnTo>
                  <a:cubicBezTo>
                    <a:pt x="42028" y="542333"/>
                    <a:pt x="27480" y="536307"/>
                    <a:pt x="16753" y="525580"/>
                  </a:cubicBezTo>
                  <a:cubicBezTo>
                    <a:pt x="6026" y="514853"/>
                    <a:pt x="0" y="500305"/>
                    <a:pt x="0" y="485135"/>
                  </a:cubicBezTo>
                  <a:lnTo>
                    <a:pt x="0" y="57198"/>
                  </a:lnTo>
                  <a:cubicBezTo>
                    <a:pt x="0" y="42028"/>
                    <a:pt x="6026" y="27480"/>
                    <a:pt x="16753" y="16753"/>
                  </a:cubicBezTo>
                  <a:cubicBezTo>
                    <a:pt x="27480" y="6026"/>
                    <a:pt x="42028" y="0"/>
                    <a:pt x="5719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84" r="0" b="-284"/>
              </a:stretch>
            </a:blipFill>
          </p:spPr>
        </p:sp>
      </p:grpSp>
      <p:sp>
        <p:nvSpPr>
          <p:cNvPr name="Freeform 51" id="51"/>
          <p:cNvSpPr/>
          <p:nvPr/>
        </p:nvSpPr>
        <p:spPr>
          <a:xfrm flipH="false" flipV="false" rot="5400000">
            <a:off x="5770770" y="8675786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8" y="0"/>
                </a:lnTo>
                <a:lnTo>
                  <a:pt x="203628" y="360112"/>
                </a:lnTo>
                <a:lnTo>
                  <a:pt x="0" y="360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-10800000">
            <a:off x="16969697" y="4930345"/>
            <a:ext cx="300494" cy="313849"/>
            <a:chOff x="0" y="0"/>
            <a:chExt cx="571500" cy="596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5400000">
            <a:off x="12313602" y="8675786"/>
            <a:ext cx="203627" cy="360113"/>
          </a:xfrm>
          <a:custGeom>
            <a:avLst/>
            <a:gdLst/>
            <a:ahLst/>
            <a:cxnLst/>
            <a:rect r="r" b="b" t="t" l="l"/>
            <a:pathLst>
              <a:path h="360113" w="203627">
                <a:moveTo>
                  <a:pt x="0" y="0"/>
                </a:moveTo>
                <a:lnTo>
                  <a:pt x="203628" y="0"/>
                </a:lnTo>
                <a:lnTo>
                  <a:pt x="203628" y="360112"/>
                </a:lnTo>
                <a:lnTo>
                  <a:pt x="0" y="360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5400000">
            <a:off x="1028700" y="4930345"/>
            <a:ext cx="300494" cy="313849"/>
            <a:chOff x="0" y="0"/>
            <a:chExt cx="571500" cy="596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241300"/>
              <a:ext cx="285750" cy="354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59" id="59"/>
          <p:cNvSpPr/>
          <p:nvPr/>
        </p:nvSpPr>
        <p:spPr>
          <a:xfrm flipV="true">
            <a:off x="5252861" y="2062162"/>
            <a:ext cx="7782272" cy="4762"/>
          </a:xfrm>
          <a:prstGeom prst="line">
            <a:avLst/>
          </a:prstGeom>
          <a:ln cap="flat" w="9525">
            <a:solidFill>
              <a:srgbClr val="2183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5742113" y="676104"/>
            <a:ext cx="813226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878436" y="676104"/>
            <a:ext cx="75194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4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67106" y="676104"/>
            <a:ext cx="92807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486033" y="676104"/>
            <a:ext cx="923532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231904" y="676104"/>
            <a:ext cx="917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48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64976" y="2657798"/>
            <a:ext cx="9533855" cy="73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74"/>
              </a:lnSpc>
            </a:pPr>
            <a:r>
              <a:rPr lang="en-US" sz="5860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Your Mental Model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24248" y="3007863"/>
            <a:ext cx="188133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</a:pPr>
            <a:r>
              <a:rPr lang="en-US" b="true" sz="1200" spc="-48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 = STATE + CAPABILITIES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248280" y="2817363"/>
            <a:ext cx="155041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9"/>
              </a:lnSpc>
            </a:pPr>
            <a:r>
              <a:rPr lang="en-US" sz="1499" spc="-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Classes define the blueprint. Methods define behavior. Agents use the same structure.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712503" y="5725062"/>
            <a:ext cx="166010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9"/>
              </a:lnSpc>
            </a:pPr>
            <a:r>
              <a:rPr lang="en-US" sz="1599" spc="-6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Next step: connect methods to real AI tools, LLMs &amp; APIs.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915787" y="5814605"/>
            <a:ext cx="166010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9"/>
              </a:lnSpc>
            </a:pPr>
            <a:r>
              <a:rPr lang="en-US" sz="1699" spc="-6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 = State + Capabilities → Tools / LLM / APIs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744228" y="8710006"/>
            <a:ext cx="279954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pc="-48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Agentic AI Study Group — Slide 10 of 10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3348004" y="735056"/>
            <a:ext cx="170386" cy="170386"/>
          </a:xfrm>
          <a:custGeom>
            <a:avLst/>
            <a:gdLst/>
            <a:ahLst/>
            <a:cxnLst/>
            <a:rect r="r" b="b" t="t" l="l"/>
            <a:pathLst>
              <a:path h="170386" w="170386">
                <a:moveTo>
                  <a:pt x="0" y="0"/>
                </a:moveTo>
                <a:lnTo>
                  <a:pt x="170386" y="0"/>
                </a:lnTo>
                <a:lnTo>
                  <a:pt x="170386" y="170386"/>
                </a:lnTo>
                <a:lnTo>
                  <a:pt x="0" y="170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DAHVEttCdDk</dc:identifier>
  <dcterms:modified xsi:type="dcterms:W3CDTF">2011-08-01T06:04:30Z</dcterms:modified>
  <cp:revision>1</cp:revision>
  <dc:title>Agentic OOP Deck: Beginner-friendly</dc:title>
</cp:coreProperties>
</file>